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68e555ba8645a5" /><Relationship Type="http://schemas.openxmlformats.org/officeDocument/2006/relationships/extended-properties" Target="/docProps/app.xml" Id="R6007eb2d80f64d9f" /><Relationship Type="http://schemas.openxmlformats.org/officeDocument/2006/relationships/officeDocument" Target="/ppt/presentation.xml" Id="R15f2a171d74b4771" /></Relationships>
</file>

<file path=ppt/presentation.xml><?xml version="1.0" encoding="utf-8"?>
<p:presentation xmlns:p="http://schemas.openxmlformats.org/presentationml/2006/main">
  <p:sldMasterIdLst>
    <p:sldMasterId xmlns:r="http://schemas.openxmlformats.org/officeDocument/2006/relationships" id="2147483648" r:id="R91dab5b44cc64ec3"/>
  </p:sldMasterIdLst>
  <p:notesMasterIdLst>
    <p:notesMasterId xmlns:r="http://schemas.openxmlformats.org/officeDocument/2006/relationships" r:id="R85e8da8255bc4aa7"/>
  </p:notesMasterIdLst>
  <p:sldIdLst>
    <p:sldId xmlns:r="http://schemas.openxmlformats.org/officeDocument/2006/relationships" id="256" r:id="R7cc4c9bacf884e59"/>
    <p:sldId xmlns:r="http://schemas.openxmlformats.org/officeDocument/2006/relationships" id="257" r:id="R6b26f63f66d748a8"/>
    <p:sldId xmlns:r="http://schemas.openxmlformats.org/officeDocument/2006/relationships" id="258" r:id="R206fad71e91c4525"/>
    <p:sldId xmlns:r="http://schemas.openxmlformats.org/officeDocument/2006/relationships" id="259" r:id="R84644cdb4a404efe"/>
    <p:sldId xmlns:r="http://schemas.openxmlformats.org/officeDocument/2006/relationships" id="260" r:id="R9ae62b8334c14bc2"/>
    <p:sldId xmlns:r="http://schemas.openxmlformats.org/officeDocument/2006/relationships" id="261" r:id="R301f84b28ae64673"/>
    <p:sldId xmlns:r="http://schemas.openxmlformats.org/officeDocument/2006/relationships" id="262" r:id="R66afcb7abb144a5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3059e1e0df4758" /><Relationship Type="http://schemas.openxmlformats.org/officeDocument/2006/relationships/slideMaster" Target="/ppt/slideMasters/slideMaster1.xml" Id="R91dab5b44cc64ec3" /><Relationship Type="http://schemas.openxmlformats.org/officeDocument/2006/relationships/notesMaster" Target="/ppt/notesMasters/notesMaster1.xml" Id="R85e8da8255bc4aa7" /><Relationship Type="http://schemas.openxmlformats.org/officeDocument/2006/relationships/presProps" Target="/ppt/presProps.xml" Id="Rc732ed44590d46de" /><Relationship Type="http://schemas.openxmlformats.org/officeDocument/2006/relationships/tableStyles" Target="/ppt/tableStyles.xml" Id="R27ed14f81e944232" /><Relationship Type="http://schemas.openxmlformats.org/officeDocument/2006/relationships/slide" Target="/ppt/slides/slide1.xml" Id="R7cc4c9bacf884e59" /><Relationship Type="http://schemas.openxmlformats.org/officeDocument/2006/relationships/slide" Target="/ppt/slides/slide2.xml" Id="R6b26f63f66d748a8" /><Relationship Type="http://schemas.openxmlformats.org/officeDocument/2006/relationships/slide" Target="/ppt/slides/slide3.xml" Id="R206fad71e91c4525" /><Relationship Type="http://schemas.openxmlformats.org/officeDocument/2006/relationships/slide" Target="/ppt/slides/slide4.xml" Id="R84644cdb4a404efe" /><Relationship Type="http://schemas.openxmlformats.org/officeDocument/2006/relationships/slide" Target="/ppt/slides/slide5.xml" Id="R9ae62b8334c14bc2" /><Relationship Type="http://schemas.openxmlformats.org/officeDocument/2006/relationships/slide" Target="/ppt/slides/slide6.xml" Id="R301f84b28ae64673" /><Relationship Type="http://schemas.openxmlformats.org/officeDocument/2006/relationships/slide" Target="/ppt/slides/slide7.xml" Id="R66afcb7abb144a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729a8ff90d4c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49611a229d44fa" /><Relationship Type="http://schemas.openxmlformats.org/officeDocument/2006/relationships/notesMaster" Target="/ppt/notesMasters/notesMaster1.xml" Id="R4975f139e46d48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b97e2554a64b6e" /><Relationship Type="http://schemas.openxmlformats.org/officeDocument/2006/relationships/notesMaster" Target="/ppt/notesMasters/notesMaster1.xml" Id="R63ba5d79ac0641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4caa93ccc04b21" /><Relationship Type="http://schemas.openxmlformats.org/officeDocument/2006/relationships/notesMaster" Target="/ppt/notesMasters/notesMaster1.xml" Id="Rcd35475f253c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c1a2076d944f23" /><Relationship Type="http://schemas.openxmlformats.org/officeDocument/2006/relationships/notesMaster" Target="/ppt/notesMasters/notesMaster1.xml" Id="R2e1ecbc79f8047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734a8504d94ad5" /><Relationship Type="http://schemas.openxmlformats.org/officeDocument/2006/relationships/notesMaster" Target="/ppt/notesMasters/notesMaster1.xml" Id="Re80c5cefee4846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5776dcb7714f31" /><Relationship Type="http://schemas.openxmlformats.org/officeDocument/2006/relationships/notesMaster" Target="/ppt/notesMasters/notesMaster1.xml" Id="Rf8c98b5d366b49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bd9687051b4fca" /><Relationship Type="http://schemas.openxmlformats.org/officeDocument/2006/relationships/notesMaster" Target="/ppt/notesMasters/notesMaster1.xml" Id="Ra8a0de96f5ec41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6526ba636e4e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946b34188f4847" /><Relationship Type="http://schemas.openxmlformats.org/officeDocument/2006/relationships/slideLayout" Target="/ppt/slideLayouts/slideLayout1.xml" Id="R5f7557e41f6b4f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7557e41f6b4f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8db48e0fca4a07" /><Relationship Type="http://schemas.openxmlformats.org/officeDocument/2006/relationships/notesSlide" Target="/ppt/notesSlides/notesSlide1.xml" Id="R1835b25b565045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6590d0692347e1" /><Relationship Type="http://schemas.openxmlformats.org/officeDocument/2006/relationships/notesSlide" Target="/ppt/notesSlides/notesSlide2.xml" Id="Rb30dcda7c71747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505b7683544089" /><Relationship Type="http://schemas.openxmlformats.org/officeDocument/2006/relationships/image" Target="/ppt/media/image.png" Id="R32d9b72fff184814" /><Relationship Type="http://schemas.openxmlformats.org/officeDocument/2006/relationships/notesSlide" Target="/ppt/notesSlides/notesSlide3.xml" Id="R2fe4c5b25e4a48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25ae65c2574acb" /><Relationship Type="http://schemas.openxmlformats.org/officeDocument/2006/relationships/image" Target="/ppt/media/image2.png" Id="R64ddac49792941b6" /><Relationship Type="http://schemas.openxmlformats.org/officeDocument/2006/relationships/notesSlide" Target="/ppt/notesSlides/notesSlide4.xml" Id="Re5649c9eb15e4e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7ae84e917e454f" /><Relationship Type="http://schemas.openxmlformats.org/officeDocument/2006/relationships/image" Target="/ppt/media/image3.png" Id="R2a1b97dd1d604a89" /><Relationship Type="http://schemas.openxmlformats.org/officeDocument/2006/relationships/notesSlide" Target="/ppt/notesSlides/notesSlide5.xml" Id="R815e503aaf524e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a5ccc4149846a4" /><Relationship Type="http://schemas.openxmlformats.org/officeDocument/2006/relationships/notesSlide" Target="/ppt/notesSlides/notesSlide6.xml" Id="R02630da0d75644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514cfa05144905" /><Relationship Type="http://schemas.openxmlformats.org/officeDocument/2006/relationships/notesSlide" Target="/ppt/notesSlides/notesSlide7.xml" Id="Rc22df4daef884ed5" /></Relationships>
</file>

<file path=ppt/slides/slide1.xml><?xml version="1.0" encoding="utf-8"?>
<p:sld xmlns:p="http://schemas.openxmlformats.org/presentationml/2006/main">
  <p:cSld>
    <p:bg>
      <p:bgPr>
        <a:solidFill xmlns:a="http://schemas.openxmlformats.org/drawingml/2006/main">
          <a:srgbClr val="EDF4F0"/>
        </a:solidFill>
      </p:bgPr>
    </p:bg>
    <p:spTree>
      <p:nvGrpSpPr>
        <p:cNvPr id="1" name=""/>
        <p:cNvGrpSpPr/>
        <p:nvPr/>
      </p:nvGrpSpPr>
      <p:grpSpPr>
        <a:xfrm xmlns:a="http://schemas.openxmlformats.org/drawingml/2006/main"/>
      </p:grpSpPr>
      <p:sp>
        <p:nvSpPr>
          <p:cNvPr id="1" name="paper">
            <a:extLst xmlns:a="http://schemas.openxmlformats.org/drawingml/2006/main">
              <a:ext uri="{FF2B5EF4-FFF2-40B4-BE49-F238E27FC236}">
                <a16:creationId xmlns:a16="http://schemas.microsoft.com/office/drawing/2014/main" id="{439F9B28-D6E4-4BCA-920D-BD07090A8C1B}"/>
              </a:ext>
            </a:extLst>
          </p:cNvPr>
          <p:cNvSpPr>
            <a:spLocks xmlns:a="http://schemas.openxmlformats.org/drawingml/2006/main" noGrp="1"/>
          </p:cNvSpPr>
          <p:nvPr/>
        </p:nvSpPr>
        <p:spPr>
          <a:xfrm xmlns:a="http://schemas.openxmlformats.org/drawingml/2006/main">
            <a:off x="342900" y="285750"/>
            <a:ext cx="11506200" cy="6286500"/>
          </a:xfrm>
          <a:prstGeom xmlns:a="http://schemas.openxmlformats.org/drawingml/2006/main" prst="roundRect">
            <a:avLst>
              <a:gd name="adj" fmla="val 1212"/>
            </a:avLst>
          </a:prstGeom>
          <a:solidFill xmlns:a="http://schemas.openxmlformats.org/drawingml/2006/main">
            <a:srgbClr val="FBFCFA"/>
          </a:solidFill>
          <a:ln xmlns:a="http://schemas.openxmlformats.org/drawingml/2006/main" w="9525">
            <a:solidFill>
              <a:srgbClr val="FBFCFA"/>
            </a:solidFill>
            <a:prstDash val="solid"/>
          </a:ln>
        </p:spPr>
      </p:sp>
      <p:sp>
        <p:nvSpPr>
          <p:cNvPr id="2" name="top-rule">
            <a:extLst xmlns:a="http://schemas.openxmlformats.org/drawingml/2006/main">
              <a:ext uri="{FF2B5EF4-FFF2-40B4-BE49-F238E27FC236}">
                <a16:creationId xmlns:a16="http://schemas.microsoft.com/office/drawing/2014/main" id="{111E9154-420E-4B62-A543-BEEB7935C5B0}"/>
              </a:ext>
            </a:extLst>
          </p:cNvPr>
          <p:cNvSpPr>
            <a:spLocks xmlns:a="http://schemas.openxmlformats.org/drawingml/2006/main" noGrp="1"/>
          </p:cNvSpPr>
          <p:nvPr/>
        </p:nvSpPr>
        <p:spPr>
          <a:xfrm xmlns:a="http://schemas.openxmlformats.org/drawingml/2006/main">
            <a:off x="342900" y="571500"/>
            <a:ext cx="11506200" cy="9525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3" name="kicker">
            <a:extLst xmlns:a="http://schemas.openxmlformats.org/drawingml/2006/main">
              <a:ext uri="{FF2B5EF4-FFF2-40B4-BE49-F238E27FC236}">
                <a16:creationId xmlns:a16="http://schemas.microsoft.com/office/drawing/2014/main" id="{1AF65D39-D2B8-43F4-A665-4A12B6444981}"/>
              </a:ext>
            </a:extLst>
          </p:cNvPr>
          <p:cNvSpPr>
            <a:spLocks xmlns:a="http://schemas.openxmlformats.org/drawingml/2006/main" noGrp="1"/>
          </p:cNvSpPr>
          <p:nvPr/>
        </p:nvSpPr>
        <p:spPr>
          <a:xfrm xmlns:a="http://schemas.openxmlformats.org/drawingml/2006/main">
            <a:off x="685800" y="914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VULCA SOLUTION PACK V1</a:t>
            </a:r>
          </a:p>
        </p:txBody>
      </p:sp>
      <p:sp>
        <p:nvSpPr>
          <p:cNvPr id="4" name="page-marker">
            <a:extLst xmlns:a="http://schemas.openxmlformats.org/drawingml/2006/main">
              <a:ext uri="{FF2B5EF4-FFF2-40B4-BE49-F238E27FC236}">
                <a16:creationId xmlns:a16="http://schemas.microsoft.com/office/drawing/2014/main" id="{CB4BC4DE-9A05-4DC7-82EC-E77BA9F9F07B}"/>
              </a:ext>
            </a:extLst>
          </p:cNvPr>
          <p:cNvSpPr>
            <a:spLocks xmlns:a="http://schemas.openxmlformats.org/drawingml/2006/main" noGrp="1"/>
          </p:cNvSpPr>
          <p:nvPr/>
        </p:nvSpPr>
        <p:spPr>
          <a:xfrm xmlns:a="http://schemas.openxmlformats.org/drawingml/2006/main">
            <a:off x="809625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a:solidFill>
                  <a:srgbClr val="62716B"/>
                </a:solidFill>
              </a:defRPr>
            </a:pPr>
            <a:r>
              <a:rPr sz="1200">
                <a:solidFill>
                  <a:srgbClr val="62716B"/>
                </a:solidFill>
              </a:rPr>
              <a:t>Public example sample / Page 1</a:t>
            </a:r>
          </a:p>
        </p:txBody>
      </p:sp>
      <p:sp>
        <p:nvSpPr>
          <p:cNvPr id="5" name="title">
            <a:extLst xmlns:a="http://schemas.openxmlformats.org/drawingml/2006/main">
              <a:ext uri="{FF2B5EF4-FFF2-40B4-BE49-F238E27FC236}">
                <a16:creationId xmlns:a16="http://schemas.microsoft.com/office/drawing/2014/main" id="{96FDB2F1-60D4-4BFD-98DD-19341B4E2E53}"/>
              </a:ext>
            </a:extLst>
          </p:cNvPr>
          <p:cNvSpPr>
            <a:spLocks xmlns:a="http://schemas.openxmlformats.org/drawingml/2006/main" noGrp="1"/>
          </p:cNvSpPr>
          <p:nvPr/>
        </p:nvSpPr>
        <p:spPr>
          <a:xfrm xmlns:a="http://schemas.openxmlformats.org/drawingml/2006/main">
            <a:off x="685800" y="123825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16211D"/>
                </a:solidFill>
              </a:defRPr>
            </a:pPr>
            <a:r>
              <a:rPr sz="3900" b="1">
                <a:solidFill>
                  <a:srgbClr val="16211D"/>
                </a:solidFill>
              </a:rPr>
              <a:t>VULCA Solution Pack v1</a:t>
            </a:r>
          </a:p>
        </p:txBody>
      </p:sp>
      <p:sp>
        <p:nvSpPr>
          <p:cNvPr id="6" name="title-underline">
            <a:extLst xmlns:a="http://schemas.openxmlformats.org/drawingml/2006/main">
              <a:ext uri="{FF2B5EF4-FFF2-40B4-BE49-F238E27FC236}">
                <a16:creationId xmlns:a16="http://schemas.microsoft.com/office/drawing/2014/main" id="{5675AEED-A3EA-4ACC-9627-F1FB0CF1BAD6}"/>
              </a:ext>
            </a:extLst>
          </p:cNvPr>
          <p:cNvSpPr>
            <a:spLocks xmlns:a="http://schemas.openxmlformats.org/drawingml/2006/main" noGrp="1"/>
          </p:cNvSpPr>
          <p:nvPr/>
        </p:nvSpPr>
        <p:spPr>
          <a:xfrm xmlns:a="http://schemas.openxmlformats.org/drawingml/2006/main">
            <a:off x="685800" y="1962150"/>
            <a:ext cx="2381250" cy="381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7" name="positioning-copy">
            <a:extLst xmlns:a="http://schemas.openxmlformats.org/drawingml/2006/main">
              <a:ext uri="{FF2B5EF4-FFF2-40B4-BE49-F238E27FC236}">
                <a16:creationId xmlns:a16="http://schemas.microsoft.com/office/drawing/2014/main" id="{96149B11-C62E-4CEF-88E7-52756B55EB48}"/>
              </a:ext>
            </a:extLst>
          </p:cNvPr>
          <p:cNvSpPr>
            <a:spLocks xmlns:a="http://schemas.openxmlformats.org/drawingml/2006/main" noGrp="1"/>
          </p:cNvSpPr>
          <p:nvPr/>
        </p:nvSpPr>
        <p:spPr>
          <a:xfrm xmlns:a="http://schemas.openxmlformats.org/drawingml/2006/main">
            <a:off x="685800" y="2286000"/>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07F73"/>
                </a:solidFill>
              </a:defRPr>
            </a:pPr>
            <a:r>
              <a:rPr sz="1800" b="1">
                <a:solidFill>
                  <a:srgbClr val="007F73"/>
                </a:solidFill>
              </a:rPr>
              <a:t>Release-evidence packets for AI-assisted visual assets.</a:t>
            </a:r>
          </a:p>
        </p:txBody>
      </p:sp>
      <p:sp>
        <p:nvSpPr>
          <p:cNvPr id="8" name="problem-copy">
            <a:extLst xmlns:a="http://schemas.openxmlformats.org/drawingml/2006/main">
              <a:ext uri="{FF2B5EF4-FFF2-40B4-BE49-F238E27FC236}">
                <a16:creationId xmlns:a16="http://schemas.microsoft.com/office/drawing/2014/main" id="{119419AC-035A-425D-9BBD-D7DAE99CBB0F}"/>
              </a:ext>
            </a:extLst>
          </p:cNvPr>
          <p:cNvSpPr>
            <a:spLocks xmlns:a="http://schemas.openxmlformats.org/drawingml/2006/main" noGrp="1"/>
          </p:cNvSpPr>
          <p:nvPr/>
        </p:nvSpPr>
        <p:spPr>
          <a:xfrm xmlns:a="http://schemas.openxmlformats.org/drawingml/2006/main">
            <a:off x="685800" y="3028950"/>
            <a:ext cx="78105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16211D"/>
                </a:solidFill>
              </a:defRPr>
            </a:pPr>
            <a:r>
              <a:rPr sz="1500">
                <a:solidFill>
                  <a:srgbClr val="16211D"/>
                </a:solidFill>
              </a:rPr>
              <a:t>AI-assisted visual production is scaling across commerce, campaign, generated media, and ad workflows. The bottleneck is no longer only making an asset. The bottleneck is explaining what it came from, what it represents, what still needs review, and who owns the release decision.</a:t>
            </a:r>
          </a:p>
        </p:txBody>
      </p:sp>
      <p:sp>
        <p:nvSpPr>
          <p:cNvPr id="9" name="public-pill">
            <a:extLst xmlns:a="http://schemas.openxmlformats.org/drawingml/2006/main">
              <a:ext uri="{FF2B5EF4-FFF2-40B4-BE49-F238E27FC236}">
                <a16:creationId xmlns:a16="http://schemas.microsoft.com/office/drawing/2014/main" id="{D8CBD298-7285-4EE2-AE77-706FB4EB66B5}"/>
              </a:ext>
            </a:extLst>
          </p:cNvPr>
          <p:cNvSpPr>
            <a:spLocks xmlns:a="http://schemas.openxmlformats.org/drawingml/2006/main" noGrp="1"/>
          </p:cNvSpPr>
          <p:nvPr/>
        </p:nvSpPr>
        <p:spPr>
          <a:xfrm xmlns:a="http://schemas.openxmlformats.org/drawingml/2006/main">
            <a:off x="685800" y="5219700"/>
            <a:ext cx="1809750" cy="323850"/>
          </a:xfrm>
          <a:prstGeom xmlns:a="http://schemas.openxmlformats.org/drawingml/2006/main" prst="roundRect">
            <a:avLst>
              <a:gd name="adj" fmla="val 50000"/>
            </a:avLst>
          </a:prstGeom>
          <a:solidFill xmlns:a="http://schemas.openxmlformats.org/drawingml/2006/main">
            <a:srgbClr val="DFF1EC"/>
          </a:solidFill>
          <a:ln xmlns:a="http://schemas.openxmlformats.org/drawingml/2006/main" w="9525">
            <a:solidFill>
              <a:srgbClr val="00695F"/>
            </a:solidFill>
            <a:prstDash val="solid"/>
          </a:ln>
        </p:spPr>
      </p:sp>
      <p:sp>
        <p:nvSpPr>
          <p:cNvPr id="10" name="public-pill-text">
            <a:extLst xmlns:a="http://schemas.openxmlformats.org/drawingml/2006/main">
              <a:ext uri="{FF2B5EF4-FFF2-40B4-BE49-F238E27FC236}">
                <a16:creationId xmlns:a16="http://schemas.microsoft.com/office/drawing/2014/main" id="{C0C71F6B-0B19-4876-BE51-DD5FDA654960}"/>
              </a:ext>
            </a:extLst>
          </p:cNvPr>
          <p:cNvSpPr>
            <a:spLocks xmlns:a="http://schemas.openxmlformats.org/drawingml/2006/main" noGrp="1"/>
          </p:cNvSpPr>
          <p:nvPr/>
        </p:nvSpPr>
        <p:spPr>
          <a:xfrm xmlns:a="http://schemas.openxmlformats.org/drawingml/2006/main">
            <a:off x="781050" y="52863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0695F"/>
                </a:solidFill>
              </a:defRPr>
            </a:pPr>
            <a:r>
              <a:rPr sz="1200" b="1">
                <a:solidFill>
                  <a:srgbClr val="00695F"/>
                </a:solidFill>
              </a:rPr>
              <a:t>public examples only</a:t>
            </a:r>
          </a:p>
        </p:txBody>
      </p:sp>
      <p:sp>
        <p:nvSpPr>
          <p:cNvPr id="11" name="source-pill">
            <a:extLst xmlns:a="http://schemas.openxmlformats.org/drawingml/2006/main">
              <a:ext uri="{FF2B5EF4-FFF2-40B4-BE49-F238E27FC236}">
                <a16:creationId xmlns:a16="http://schemas.microsoft.com/office/drawing/2014/main" id="{D69D600F-C875-4ADF-802A-D33859221C16}"/>
              </a:ext>
            </a:extLst>
          </p:cNvPr>
          <p:cNvSpPr>
            <a:spLocks xmlns:a="http://schemas.openxmlformats.org/drawingml/2006/main" noGrp="1"/>
          </p:cNvSpPr>
          <p:nvPr/>
        </p:nvSpPr>
        <p:spPr>
          <a:xfrm xmlns:a="http://schemas.openxmlformats.org/drawingml/2006/main">
            <a:off x="2686050" y="5219700"/>
            <a:ext cx="1600200" cy="323850"/>
          </a:xfrm>
          <a:prstGeom xmlns:a="http://schemas.openxmlformats.org/drawingml/2006/main" prst="roundRect">
            <a:avLst>
              <a:gd name="adj" fmla="val 50000"/>
            </a:avLst>
          </a:prstGeom>
          <a:solidFill xmlns:a="http://schemas.openxmlformats.org/drawingml/2006/main">
            <a:srgbClr val="DFF1EC"/>
          </a:solidFill>
          <a:ln xmlns:a="http://schemas.openxmlformats.org/drawingml/2006/main" w="9525">
            <a:solidFill>
              <a:srgbClr val="00695F"/>
            </a:solidFill>
            <a:prstDash val="solid"/>
          </a:ln>
        </p:spPr>
      </p:sp>
      <p:sp>
        <p:nvSpPr>
          <p:cNvPr id="12" name="source-pill-text">
            <a:extLst xmlns:a="http://schemas.openxmlformats.org/drawingml/2006/main">
              <a:ext uri="{FF2B5EF4-FFF2-40B4-BE49-F238E27FC236}">
                <a16:creationId xmlns:a16="http://schemas.microsoft.com/office/drawing/2014/main" id="{01090734-78F6-43E7-8EA1-2E5D4BC5A334}"/>
              </a:ext>
            </a:extLst>
          </p:cNvPr>
          <p:cNvSpPr>
            <a:spLocks xmlns:a="http://schemas.openxmlformats.org/drawingml/2006/main" noGrp="1"/>
          </p:cNvSpPr>
          <p:nvPr/>
        </p:nvSpPr>
        <p:spPr>
          <a:xfrm xmlns:a="http://schemas.openxmlformats.org/drawingml/2006/main">
            <a:off x="2781300" y="52863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0695F"/>
                </a:solidFill>
              </a:defRPr>
            </a:pPr>
            <a:r>
              <a:rPr sz="1200" b="1">
                <a:solidFill>
                  <a:srgbClr val="00695F"/>
                </a:solidFill>
              </a:rPr>
              <a:t>source-backed</a:t>
            </a:r>
          </a:p>
        </p:txBody>
      </p:sp>
      <p:sp>
        <p:nvSpPr>
          <p:cNvPr id="13" name="review-pill">
            <a:extLst xmlns:a="http://schemas.openxmlformats.org/drawingml/2006/main">
              <a:ext uri="{FF2B5EF4-FFF2-40B4-BE49-F238E27FC236}">
                <a16:creationId xmlns:a16="http://schemas.microsoft.com/office/drawing/2014/main" id="{701D9D6A-531E-4935-83EF-F9A6FCE583DF}"/>
              </a:ext>
            </a:extLst>
          </p:cNvPr>
          <p:cNvSpPr>
            <a:spLocks xmlns:a="http://schemas.openxmlformats.org/drawingml/2006/main" noGrp="1"/>
          </p:cNvSpPr>
          <p:nvPr/>
        </p:nvSpPr>
        <p:spPr>
          <a:xfrm xmlns:a="http://schemas.openxmlformats.org/drawingml/2006/main">
            <a:off x="4476750" y="5219700"/>
            <a:ext cx="1638300" cy="323850"/>
          </a:xfrm>
          <a:prstGeom xmlns:a="http://schemas.openxmlformats.org/drawingml/2006/main" prst="roundRect">
            <a:avLst>
              <a:gd name="adj" fmla="val 50000"/>
            </a:avLst>
          </a:prstGeom>
          <a:solidFill xmlns:a="http://schemas.openxmlformats.org/drawingml/2006/main">
            <a:srgbClr val="FFF1D2"/>
          </a:solidFill>
          <a:ln xmlns:a="http://schemas.openxmlformats.org/drawingml/2006/main" w="9525">
            <a:solidFill>
              <a:srgbClr val="9A6700"/>
            </a:solidFill>
            <a:prstDash val="solid"/>
          </a:ln>
        </p:spPr>
      </p:sp>
      <p:sp>
        <p:nvSpPr>
          <p:cNvPr id="14" name="review-pill-text">
            <a:extLst xmlns:a="http://schemas.openxmlformats.org/drawingml/2006/main">
              <a:ext uri="{FF2B5EF4-FFF2-40B4-BE49-F238E27FC236}">
                <a16:creationId xmlns:a16="http://schemas.microsoft.com/office/drawing/2014/main" id="{46265375-11BA-48A0-86F8-DF9ACA24C1A2}"/>
              </a:ext>
            </a:extLst>
          </p:cNvPr>
          <p:cNvSpPr>
            <a:spLocks xmlns:a="http://schemas.openxmlformats.org/drawingml/2006/main" noGrp="1"/>
          </p:cNvSpPr>
          <p:nvPr/>
        </p:nvSpPr>
        <p:spPr>
          <a:xfrm xmlns:a="http://schemas.openxmlformats.org/drawingml/2006/main">
            <a:off x="4572000" y="528637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9A6700"/>
                </a:solidFill>
              </a:defRPr>
            </a:pPr>
            <a:r>
              <a:rPr sz="1200" b="1">
                <a:solidFill>
                  <a:srgbClr val="9A6700"/>
                </a:solidFill>
              </a:rPr>
              <a:t>human-reviewed</a:t>
            </a:r>
          </a:p>
        </p:txBody>
      </p:sp>
      <p:sp>
        <p:nvSpPr>
          <p:cNvPr id="15" name="right-proof-frame">
            <a:extLst xmlns:a="http://schemas.openxmlformats.org/drawingml/2006/main">
              <a:ext uri="{FF2B5EF4-FFF2-40B4-BE49-F238E27FC236}">
                <a16:creationId xmlns:a16="http://schemas.microsoft.com/office/drawing/2014/main" id="{9A62BAD4-4F88-40A0-A7F8-0BDDA4B08B83}"/>
              </a:ext>
            </a:extLst>
          </p:cNvPr>
          <p:cNvSpPr>
            <a:spLocks xmlns:a="http://schemas.openxmlformats.org/drawingml/2006/main" noGrp="1"/>
          </p:cNvSpPr>
          <p:nvPr/>
        </p:nvSpPr>
        <p:spPr>
          <a:xfrm xmlns:a="http://schemas.openxmlformats.org/drawingml/2006/main">
            <a:off x="9048750" y="2476500"/>
            <a:ext cx="1809750" cy="2476500"/>
          </a:xfrm>
          <a:prstGeom xmlns:a="http://schemas.openxmlformats.org/drawingml/2006/main" prst="roundRect">
            <a:avLst>
              <a:gd name="adj" fmla="val 4211"/>
            </a:avLst>
          </a:prstGeom>
          <a:solidFill xmlns:a="http://schemas.openxmlformats.org/drawingml/2006/main">
            <a:srgbClr val="F7F6F1"/>
          </a:solidFill>
          <a:ln xmlns:a="http://schemas.openxmlformats.org/drawingml/2006/main" w="9525">
            <a:solidFill>
              <a:srgbClr val="C8D0CC"/>
            </a:solidFill>
            <a:prstDash val="solid"/>
          </a:ln>
        </p:spPr>
      </p:sp>
      <p:sp>
        <p:nvSpPr>
          <p:cNvPr id="16" name="right-proof-1">
            <a:extLst xmlns:a="http://schemas.openxmlformats.org/drawingml/2006/main">
              <a:ext uri="{FF2B5EF4-FFF2-40B4-BE49-F238E27FC236}">
                <a16:creationId xmlns:a16="http://schemas.microsoft.com/office/drawing/2014/main" id="{F12CBCA5-0B50-4589-8D60-41944C63F7DC}"/>
              </a:ext>
            </a:extLst>
          </p:cNvPr>
          <p:cNvSpPr>
            <a:spLocks xmlns:a="http://schemas.openxmlformats.org/drawingml/2006/main" noGrp="1"/>
          </p:cNvSpPr>
          <p:nvPr/>
        </p:nvSpPr>
        <p:spPr>
          <a:xfrm xmlns:a="http://schemas.openxmlformats.org/drawingml/2006/main">
            <a:off x="9382125" y="2895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07F73"/>
                </a:solidFill>
              </a:defRPr>
            </a:pPr>
            <a:r>
              <a:rPr sz="1200" b="1">
                <a:solidFill>
                  <a:srgbClr val="007F73"/>
                </a:solidFill>
              </a:rPr>
              <a:t>source</a:t>
            </a:r>
          </a:p>
        </p:txBody>
      </p:sp>
      <p:sp>
        <p:nvSpPr>
          <p:cNvPr id="17" name="right-proof-2">
            <a:extLst xmlns:a="http://schemas.openxmlformats.org/drawingml/2006/main">
              <a:ext uri="{FF2B5EF4-FFF2-40B4-BE49-F238E27FC236}">
                <a16:creationId xmlns:a16="http://schemas.microsoft.com/office/drawing/2014/main" id="{75A582E3-8EBF-4FBE-85E9-85A7FC77ABF8}"/>
              </a:ext>
            </a:extLst>
          </p:cNvPr>
          <p:cNvSpPr>
            <a:spLocks xmlns:a="http://schemas.openxmlformats.org/drawingml/2006/main" noGrp="1"/>
          </p:cNvSpPr>
          <p:nvPr/>
        </p:nvSpPr>
        <p:spPr>
          <a:xfrm xmlns:a="http://schemas.openxmlformats.org/drawingml/2006/main">
            <a:off x="9382125" y="3562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9A6700"/>
                </a:solidFill>
              </a:defRPr>
            </a:pPr>
            <a:r>
              <a:rPr sz="1200" b="1">
                <a:solidFill>
                  <a:srgbClr val="9A6700"/>
                </a:solidFill>
              </a:rPr>
              <a:t>field read</a:t>
            </a:r>
          </a:p>
        </p:txBody>
      </p:sp>
      <p:sp>
        <p:nvSpPr>
          <p:cNvPr id="18" name="right-proof-3">
            <a:extLst xmlns:a="http://schemas.openxmlformats.org/drawingml/2006/main">
              <a:ext uri="{FF2B5EF4-FFF2-40B4-BE49-F238E27FC236}">
                <a16:creationId xmlns:a16="http://schemas.microsoft.com/office/drawing/2014/main" id="{7B4640A9-0946-42D7-A6CC-D2E645BEA0F9}"/>
              </a:ext>
            </a:extLst>
          </p:cNvPr>
          <p:cNvSpPr>
            <a:spLocks xmlns:a="http://schemas.openxmlformats.org/drawingml/2006/main" noGrp="1"/>
          </p:cNvSpPr>
          <p:nvPr/>
        </p:nvSpPr>
        <p:spPr>
          <a:xfrm xmlns:a="http://schemas.openxmlformats.org/drawingml/2006/main">
            <a:off x="9382125" y="42291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B63A31"/>
                </a:solidFill>
              </a:defRPr>
            </a:pPr>
            <a:r>
              <a:rPr sz="1200" b="1">
                <a:solidFill>
                  <a:srgbClr val="B63A31"/>
                </a:solidFill>
              </a:rPr>
              <a:t>owner gate</a:t>
            </a:r>
          </a:p>
        </p:txBody>
      </p:sp>
      <p:sp>
        <p:nvSpPr>
          <p:cNvPr id="19" name="boundary-footer">
            <a:extLst xmlns:a="http://schemas.openxmlformats.org/drawingml/2006/main">
              <a:ext uri="{FF2B5EF4-FFF2-40B4-BE49-F238E27FC236}">
                <a16:creationId xmlns:a16="http://schemas.microsoft.com/office/drawing/2014/main" id="{7BE70B5A-45B9-4FA3-8DEB-F95A0EBD3843}"/>
              </a:ext>
            </a:extLst>
          </p:cNvPr>
          <p:cNvSpPr>
            <a:spLocks xmlns:a="http://schemas.openxmlformats.org/drawingml/2006/main" noGrp="1"/>
          </p:cNvSpPr>
          <p:nvPr/>
        </p:nvSpPr>
        <p:spPr>
          <a:xfrm xmlns:a="http://schemas.openxmlformats.org/drawingml/2006/main">
            <a:off x="685800" y="6191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2716B"/>
                </a:solidFill>
              </a:defRPr>
            </a:pPr>
            <a:r>
              <a:rPr sz="825">
                <a:solidFill>
                  <a:srgbClr val="62716B"/>
                </a:solidFill>
              </a:rPr>
              <a:t>Named companies are public examples only. They do not imply a VULCA customer, partner, endorsement, authorization source, or finding.</a:t>
            </a:r>
          </a:p>
        </p:txBody>
      </p:sp>
    </p:spTree>
    <p:extLst>
      <p:ext uri="{BB962C8B-B14F-4D97-AF65-F5344CB8AC3E}">
        <p14:creationId xmlns:p14="http://schemas.microsoft.com/office/powerpoint/2010/main" val="1080559162"/>
      </p:ext>
    </p:extLst>
  </p:cSld>
</p:sld>
</file>

<file path=ppt/slides/slide2.xml><?xml version="1.0" encoding="utf-8"?>
<p:sld xmlns:p="http://schemas.openxmlformats.org/presentationml/2006/main">
  <p:cSld>
    <p:bg>
      <p:bgPr>
        <a:solidFill xmlns:a="http://schemas.openxmlformats.org/drawingml/2006/main">
          <a:srgbClr val="EDF4F0"/>
        </a:solidFill>
      </p:bgPr>
    </p:bg>
    <p:spTree>
      <p:nvGrpSpPr>
        <p:cNvPr id="1" name=""/>
        <p:cNvGrpSpPr/>
        <p:nvPr/>
      </p:nvGrpSpPr>
      <p:grpSpPr>
        <a:xfrm xmlns:a="http://schemas.openxmlformats.org/drawingml/2006/main"/>
      </p:grpSpPr>
      <p:sp>
        <p:nvSpPr>
          <p:cNvPr id="1" name="paper">
            <a:extLst xmlns:a="http://schemas.openxmlformats.org/drawingml/2006/main">
              <a:ext uri="{FF2B5EF4-FFF2-40B4-BE49-F238E27FC236}">
                <a16:creationId xmlns:a16="http://schemas.microsoft.com/office/drawing/2014/main" id="{44A812DE-128E-42DB-801B-3632A46FB700}"/>
              </a:ext>
            </a:extLst>
          </p:cNvPr>
          <p:cNvSpPr>
            <a:spLocks xmlns:a="http://schemas.openxmlformats.org/drawingml/2006/main" noGrp="1"/>
          </p:cNvSpPr>
          <p:nvPr/>
        </p:nvSpPr>
        <p:spPr>
          <a:xfrm xmlns:a="http://schemas.openxmlformats.org/drawingml/2006/main">
            <a:off x="342900" y="285750"/>
            <a:ext cx="11506200" cy="6286500"/>
          </a:xfrm>
          <a:prstGeom xmlns:a="http://schemas.openxmlformats.org/drawingml/2006/main" prst="roundRect">
            <a:avLst>
              <a:gd name="adj" fmla="val 1212"/>
            </a:avLst>
          </a:prstGeom>
          <a:solidFill xmlns:a="http://schemas.openxmlformats.org/drawingml/2006/main">
            <a:srgbClr val="FBFCFA"/>
          </a:solidFill>
          <a:ln xmlns:a="http://schemas.openxmlformats.org/drawingml/2006/main" w="9525">
            <a:solidFill>
              <a:srgbClr val="FBFCFA"/>
            </a:solidFill>
            <a:prstDash val="solid"/>
          </a:ln>
        </p:spPr>
      </p:sp>
      <p:sp>
        <p:nvSpPr>
          <p:cNvPr id="2" name="top-rule">
            <a:extLst xmlns:a="http://schemas.openxmlformats.org/drawingml/2006/main">
              <a:ext uri="{FF2B5EF4-FFF2-40B4-BE49-F238E27FC236}">
                <a16:creationId xmlns:a16="http://schemas.microsoft.com/office/drawing/2014/main" id="{1929B4A2-B043-44EA-A82B-EC73E82765A6}"/>
              </a:ext>
            </a:extLst>
          </p:cNvPr>
          <p:cNvSpPr>
            <a:spLocks xmlns:a="http://schemas.openxmlformats.org/drawingml/2006/main" noGrp="1"/>
          </p:cNvSpPr>
          <p:nvPr/>
        </p:nvSpPr>
        <p:spPr>
          <a:xfrm xmlns:a="http://schemas.openxmlformats.org/drawingml/2006/main">
            <a:off x="342900" y="571500"/>
            <a:ext cx="11506200" cy="9525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3" name="kicker">
            <a:extLst xmlns:a="http://schemas.openxmlformats.org/drawingml/2006/main">
              <a:ext uri="{FF2B5EF4-FFF2-40B4-BE49-F238E27FC236}">
                <a16:creationId xmlns:a16="http://schemas.microsoft.com/office/drawing/2014/main" id="{400078E5-7C0D-420F-88DF-8C7DC3E1180B}"/>
              </a:ext>
            </a:extLst>
          </p:cNvPr>
          <p:cNvSpPr>
            <a:spLocks xmlns:a="http://schemas.openxmlformats.org/drawingml/2006/main" noGrp="1"/>
          </p:cNvSpPr>
          <p:nvPr/>
        </p:nvSpPr>
        <p:spPr>
          <a:xfrm xmlns:a="http://schemas.openxmlformats.org/drawingml/2006/main">
            <a:off x="685800" y="914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VULCA SOLUTION PACK V1</a:t>
            </a:r>
          </a:p>
        </p:txBody>
      </p:sp>
      <p:sp>
        <p:nvSpPr>
          <p:cNvPr id="4" name="page-marker">
            <a:extLst xmlns:a="http://schemas.openxmlformats.org/drawingml/2006/main">
              <a:ext uri="{FF2B5EF4-FFF2-40B4-BE49-F238E27FC236}">
                <a16:creationId xmlns:a16="http://schemas.microsoft.com/office/drawing/2014/main" id="{32999581-5239-47D9-8427-E62207C9E23F}"/>
              </a:ext>
            </a:extLst>
          </p:cNvPr>
          <p:cNvSpPr>
            <a:spLocks xmlns:a="http://schemas.openxmlformats.org/drawingml/2006/main" noGrp="1"/>
          </p:cNvSpPr>
          <p:nvPr/>
        </p:nvSpPr>
        <p:spPr>
          <a:xfrm xmlns:a="http://schemas.openxmlformats.org/drawingml/2006/main">
            <a:off x="809625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a:solidFill>
                  <a:srgbClr val="62716B"/>
                </a:solidFill>
              </a:defRPr>
            </a:pPr>
            <a:r>
              <a:rPr sz="1200">
                <a:solidFill>
                  <a:srgbClr val="62716B"/>
                </a:solidFill>
              </a:rPr>
              <a:t>Public example sample / Page 2</a:t>
            </a:r>
          </a:p>
        </p:txBody>
      </p:sp>
      <p:sp>
        <p:nvSpPr>
          <p:cNvPr id="5" name="title">
            <a:extLst xmlns:a="http://schemas.openxmlformats.org/drawingml/2006/main">
              <a:ext uri="{FF2B5EF4-FFF2-40B4-BE49-F238E27FC236}">
                <a16:creationId xmlns:a16="http://schemas.microsoft.com/office/drawing/2014/main" id="{CAF79E96-33A0-4897-B9BD-C6BC2BDC7636}"/>
              </a:ext>
            </a:extLst>
          </p:cNvPr>
          <p:cNvSpPr>
            <a:spLocks xmlns:a="http://schemas.openxmlformats.org/drawingml/2006/main" noGrp="1"/>
          </p:cNvSpPr>
          <p:nvPr/>
        </p:nvSpPr>
        <p:spPr>
          <a:xfrm xmlns:a="http://schemas.openxmlformats.org/drawingml/2006/main">
            <a:off x="685800" y="12573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6211D"/>
                </a:solidFill>
              </a:defRPr>
            </a:pPr>
            <a:r>
              <a:rPr sz="3000" b="1">
                <a:solidFill>
                  <a:srgbClr val="16211D"/>
                </a:solidFill>
              </a:rPr>
              <a:t>What VULCA Produces</a:t>
            </a:r>
          </a:p>
        </p:txBody>
      </p:sp>
      <p:sp>
        <p:nvSpPr>
          <p:cNvPr id="6" name="summary-copy">
            <a:extLst xmlns:a="http://schemas.openxmlformats.org/drawingml/2006/main">
              <a:ext uri="{FF2B5EF4-FFF2-40B4-BE49-F238E27FC236}">
                <a16:creationId xmlns:a16="http://schemas.microsoft.com/office/drawing/2014/main" id="{74DEE3A9-7244-4DA9-998C-E4D53C11D908}"/>
              </a:ext>
            </a:extLst>
          </p:cNvPr>
          <p:cNvSpPr>
            <a:spLocks xmlns:a="http://schemas.openxmlformats.org/drawingml/2006/main" noGrp="1"/>
          </p:cNvSpPr>
          <p:nvPr/>
        </p:nvSpPr>
        <p:spPr>
          <a:xfrm xmlns:a="http://schemas.openxmlformats.org/drawingml/2006/main">
            <a:off x="685800" y="203835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62716B"/>
                </a:solidFill>
              </a:defRPr>
            </a:pPr>
            <a:r>
              <a:rPr sz="1350">
                <a:solidFill>
                  <a:srgbClr val="62716B"/>
                </a:solidFill>
              </a:rPr>
              <a:t>A compact packet that connects source context, visual or generated-output fields, review questions, owner route, and a bounded human review gate.</a:t>
            </a:r>
          </a:p>
        </p:txBody>
      </p:sp>
      <p:sp>
        <p:nvSpPr>
          <p:cNvPr id="7" name="lane-a-card">
            <a:extLst xmlns:a="http://schemas.openxmlformats.org/drawingml/2006/main">
              <a:ext uri="{FF2B5EF4-FFF2-40B4-BE49-F238E27FC236}">
                <a16:creationId xmlns:a16="http://schemas.microsoft.com/office/drawing/2014/main" id="{23A9A00E-4715-4DB1-BB88-5F9FAB8300FD}"/>
              </a:ext>
            </a:extLst>
          </p:cNvPr>
          <p:cNvSpPr>
            <a:spLocks xmlns:a="http://schemas.openxmlformats.org/drawingml/2006/main" noGrp="1"/>
          </p:cNvSpPr>
          <p:nvPr/>
        </p:nvSpPr>
        <p:spPr>
          <a:xfrm xmlns:a="http://schemas.openxmlformats.org/drawingml/2006/main">
            <a:off x="857250" y="2914650"/>
            <a:ext cx="3257550" cy="1828800"/>
          </a:xfrm>
          <a:prstGeom xmlns:a="http://schemas.openxmlformats.org/drawingml/2006/main" prst="roundRect">
            <a:avLst>
              <a:gd name="adj" fmla="val 4167"/>
            </a:avLst>
          </a:prstGeom>
          <a:solidFill xmlns:a="http://schemas.openxmlformats.org/drawingml/2006/main">
            <a:srgbClr val="DFF1EC"/>
          </a:solidFill>
          <a:ln xmlns:a="http://schemas.openxmlformats.org/drawingml/2006/main" w="9525">
            <a:solidFill>
              <a:srgbClr val="00695F"/>
            </a:solidFill>
            <a:prstDash val="solid"/>
          </a:ln>
        </p:spPr>
      </p:sp>
      <p:sp>
        <p:nvSpPr>
          <p:cNvPr id="8" name="lane-a-accent">
            <a:extLst xmlns:a="http://schemas.openxmlformats.org/drawingml/2006/main">
              <a:ext uri="{FF2B5EF4-FFF2-40B4-BE49-F238E27FC236}">
                <a16:creationId xmlns:a16="http://schemas.microsoft.com/office/drawing/2014/main" id="{EEBAA97D-E26F-48AC-B5CA-E1D41D60F6F4}"/>
              </a:ext>
            </a:extLst>
          </p:cNvPr>
          <p:cNvSpPr>
            <a:spLocks xmlns:a="http://schemas.openxmlformats.org/drawingml/2006/main" noGrp="1"/>
          </p:cNvSpPr>
          <p:nvPr/>
        </p:nvSpPr>
        <p:spPr>
          <a:xfrm xmlns:a="http://schemas.openxmlformats.org/drawingml/2006/main">
            <a:off x="857250" y="2914650"/>
            <a:ext cx="3257550" cy="76200"/>
          </a:xfrm>
          <a:prstGeom xmlns:a="http://schemas.openxmlformats.org/drawingml/2006/main" prst="rect">
            <a:avLst/>
          </a:prstGeom>
          <a:solidFill xmlns:a="http://schemas.openxmlformats.org/drawingml/2006/main">
            <a:srgbClr val="00695F"/>
          </a:solidFill>
          <a:ln xmlns:a="http://schemas.openxmlformats.org/drawingml/2006/main" w="0">
            <a:solidFill>
              <a:srgbClr val="00695F"/>
            </a:solidFill>
            <a:prstDash val="solid"/>
          </a:ln>
        </p:spPr>
      </p:sp>
      <p:sp>
        <p:nvSpPr>
          <p:cNvPr id="9" name="lane-a-title">
            <a:extLst xmlns:a="http://schemas.openxmlformats.org/drawingml/2006/main">
              <a:ext uri="{FF2B5EF4-FFF2-40B4-BE49-F238E27FC236}">
                <a16:creationId xmlns:a16="http://schemas.microsoft.com/office/drawing/2014/main" id="{C25A37C4-FB29-46DA-9B47-111E5C188986}"/>
              </a:ext>
            </a:extLst>
          </p:cNvPr>
          <p:cNvSpPr>
            <a:spLocks xmlns:a="http://schemas.openxmlformats.org/drawingml/2006/main" noGrp="1"/>
          </p:cNvSpPr>
          <p:nvPr/>
        </p:nvSpPr>
        <p:spPr>
          <a:xfrm xmlns:a="http://schemas.openxmlformats.org/drawingml/2006/main">
            <a:off x="1028700" y="31051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0695F"/>
                </a:solidFill>
              </a:defRPr>
            </a:pPr>
            <a:r>
              <a:rPr sz="1275" b="1">
                <a:solidFill>
                  <a:srgbClr val="00695F"/>
                </a:solidFill>
              </a:rPr>
              <a:t>Lane A / Product-truth</a:t>
            </a:r>
          </a:p>
        </p:txBody>
      </p:sp>
      <p:sp>
        <p:nvSpPr>
          <p:cNvPr id="10" name="lane-a-body">
            <a:extLst xmlns:a="http://schemas.openxmlformats.org/drawingml/2006/main">
              <a:ext uri="{FF2B5EF4-FFF2-40B4-BE49-F238E27FC236}">
                <a16:creationId xmlns:a16="http://schemas.microsoft.com/office/drawing/2014/main" id="{BC7BE987-C7D4-4F4A-B647-EFC3AEE81E3D}"/>
              </a:ext>
            </a:extLst>
          </p:cNvPr>
          <p:cNvSpPr>
            <a:spLocks xmlns:a="http://schemas.openxmlformats.org/drawingml/2006/main" noGrp="1"/>
          </p:cNvSpPr>
          <p:nvPr/>
        </p:nvSpPr>
        <p:spPr>
          <a:xfrm xmlns:a="http://schemas.openxmlformats.org/drawingml/2006/main">
            <a:off x="1028700" y="3467100"/>
            <a:ext cx="29146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Existing commercial material and product claims become source-backed evidence cards: visible claim, product representation, source context, channel role, and release owner.</a:t>
            </a:r>
          </a:p>
        </p:txBody>
      </p:sp>
      <p:sp>
        <p:nvSpPr>
          <p:cNvPr id="11" name="lane-b-card">
            <a:extLst xmlns:a="http://schemas.openxmlformats.org/drawingml/2006/main">
              <a:ext uri="{FF2B5EF4-FFF2-40B4-BE49-F238E27FC236}">
                <a16:creationId xmlns:a16="http://schemas.microsoft.com/office/drawing/2014/main" id="{49791840-6DF7-490D-9BE2-A760592B7DD8}"/>
              </a:ext>
            </a:extLst>
          </p:cNvPr>
          <p:cNvSpPr>
            <a:spLocks xmlns:a="http://schemas.openxmlformats.org/drawingml/2006/main" noGrp="1"/>
          </p:cNvSpPr>
          <p:nvPr/>
        </p:nvSpPr>
        <p:spPr>
          <a:xfrm xmlns:a="http://schemas.openxmlformats.org/drawingml/2006/main">
            <a:off x="4467225" y="2914650"/>
            <a:ext cx="3257550" cy="1828800"/>
          </a:xfrm>
          <a:prstGeom xmlns:a="http://schemas.openxmlformats.org/drawingml/2006/main" prst="roundRect">
            <a:avLst>
              <a:gd name="adj" fmla="val 4167"/>
            </a:avLst>
          </a:prstGeom>
          <a:solidFill xmlns:a="http://schemas.openxmlformats.org/drawingml/2006/main">
            <a:srgbClr val="FFF1D2"/>
          </a:solidFill>
          <a:ln xmlns:a="http://schemas.openxmlformats.org/drawingml/2006/main" w="9525">
            <a:solidFill>
              <a:srgbClr val="9A6700"/>
            </a:solidFill>
            <a:prstDash val="solid"/>
          </a:ln>
        </p:spPr>
      </p:sp>
      <p:sp>
        <p:nvSpPr>
          <p:cNvPr id="12" name="lane-b-accent">
            <a:extLst xmlns:a="http://schemas.openxmlformats.org/drawingml/2006/main">
              <a:ext uri="{FF2B5EF4-FFF2-40B4-BE49-F238E27FC236}">
                <a16:creationId xmlns:a16="http://schemas.microsoft.com/office/drawing/2014/main" id="{AEECE0AB-FD99-4997-BCAD-C8AADAA38727}"/>
              </a:ext>
            </a:extLst>
          </p:cNvPr>
          <p:cNvSpPr>
            <a:spLocks xmlns:a="http://schemas.openxmlformats.org/drawingml/2006/main" noGrp="1"/>
          </p:cNvSpPr>
          <p:nvPr/>
        </p:nvSpPr>
        <p:spPr>
          <a:xfrm xmlns:a="http://schemas.openxmlformats.org/drawingml/2006/main">
            <a:off x="4467225" y="2914650"/>
            <a:ext cx="3257550" cy="76200"/>
          </a:xfrm>
          <a:prstGeom xmlns:a="http://schemas.openxmlformats.org/drawingml/2006/main" prst="rect">
            <a:avLst/>
          </a:prstGeom>
          <a:solidFill xmlns:a="http://schemas.openxmlformats.org/drawingml/2006/main">
            <a:srgbClr val="9A6700"/>
          </a:solidFill>
          <a:ln xmlns:a="http://schemas.openxmlformats.org/drawingml/2006/main" w="0">
            <a:solidFill>
              <a:srgbClr val="9A6700"/>
            </a:solidFill>
            <a:prstDash val="solid"/>
          </a:ln>
        </p:spPr>
      </p:sp>
      <p:sp>
        <p:nvSpPr>
          <p:cNvPr id="13" name="lane-b-title">
            <a:extLst xmlns:a="http://schemas.openxmlformats.org/drawingml/2006/main">
              <a:ext uri="{FF2B5EF4-FFF2-40B4-BE49-F238E27FC236}">
                <a16:creationId xmlns:a16="http://schemas.microsoft.com/office/drawing/2014/main" id="{1C2D29BD-B2AE-4E1D-9ADD-8B949BADA84C}"/>
              </a:ext>
            </a:extLst>
          </p:cNvPr>
          <p:cNvSpPr>
            <a:spLocks xmlns:a="http://schemas.openxmlformats.org/drawingml/2006/main" noGrp="1"/>
          </p:cNvSpPr>
          <p:nvPr/>
        </p:nvSpPr>
        <p:spPr>
          <a:xfrm xmlns:a="http://schemas.openxmlformats.org/drawingml/2006/main">
            <a:off x="4638675" y="31051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9A6700"/>
                </a:solidFill>
              </a:defRPr>
            </a:pPr>
            <a:r>
              <a:rPr sz="1275" b="1">
                <a:solidFill>
                  <a:srgbClr val="9A6700"/>
                </a:solidFill>
              </a:rPr>
              <a:t>Lane B / AI publishability</a:t>
            </a:r>
          </a:p>
        </p:txBody>
      </p:sp>
      <p:sp>
        <p:nvSpPr>
          <p:cNvPr id="14" name="lane-b-body">
            <a:extLst xmlns:a="http://schemas.openxmlformats.org/drawingml/2006/main">
              <a:ext uri="{FF2B5EF4-FFF2-40B4-BE49-F238E27FC236}">
                <a16:creationId xmlns:a16="http://schemas.microsoft.com/office/drawing/2014/main" id="{351D747A-0450-4FD1-8770-1686A91BE5B4}"/>
              </a:ext>
            </a:extLst>
          </p:cNvPr>
          <p:cNvSpPr>
            <a:spLocks xmlns:a="http://schemas.openxmlformats.org/drawingml/2006/main" noGrp="1"/>
          </p:cNvSpPr>
          <p:nvPr/>
        </p:nvSpPr>
        <p:spPr>
          <a:xfrm xmlns:a="http://schemas.openxmlformats.org/drawingml/2006/main">
            <a:off x="4638675" y="3467100"/>
            <a:ext cx="29146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Generated assets are paired with input or reference context, model or workflow context, output state, label posture, unresolved fields, and owner route.</a:t>
            </a:r>
          </a:p>
        </p:txBody>
      </p:sp>
      <p:sp>
        <p:nvSpPr>
          <p:cNvPr id="15" name="lane-c-card">
            <a:extLst xmlns:a="http://schemas.openxmlformats.org/drawingml/2006/main">
              <a:ext uri="{FF2B5EF4-FFF2-40B4-BE49-F238E27FC236}">
                <a16:creationId xmlns:a16="http://schemas.microsoft.com/office/drawing/2014/main" id="{AAF58275-9771-42D4-951D-8CEFB164EDA8}"/>
              </a:ext>
            </a:extLst>
          </p:cNvPr>
          <p:cNvSpPr>
            <a:spLocks xmlns:a="http://schemas.openxmlformats.org/drawingml/2006/main" noGrp="1"/>
          </p:cNvSpPr>
          <p:nvPr/>
        </p:nvSpPr>
        <p:spPr>
          <a:xfrm xmlns:a="http://schemas.openxmlformats.org/drawingml/2006/main">
            <a:off x="8077200" y="2914650"/>
            <a:ext cx="3257550" cy="1828800"/>
          </a:xfrm>
          <a:prstGeom xmlns:a="http://schemas.openxmlformats.org/drawingml/2006/main" prst="roundRect">
            <a:avLst>
              <a:gd name="adj" fmla="val 4167"/>
            </a:avLst>
          </a:prstGeom>
          <a:solidFill xmlns:a="http://schemas.openxmlformats.org/drawingml/2006/main">
            <a:srgbClr val="F8E0DC"/>
          </a:solidFill>
          <a:ln xmlns:a="http://schemas.openxmlformats.org/drawingml/2006/main" w="9525">
            <a:solidFill>
              <a:srgbClr val="B63A31"/>
            </a:solidFill>
            <a:prstDash val="solid"/>
          </a:ln>
        </p:spPr>
      </p:sp>
      <p:sp>
        <p:nvSpPr>
          <p:cNvPr id="16" name="lane-c-accent">
            <a:extLst xmlns:a="http://schemas.openxmlformats.org/drawingml/2006/main">
              <a:ext uri="{FF2B5EF4-FFF2-40B4-BE49-F238E27FC236}">
                <a16:creationId xmlns:a16="http://schemas.microsoft.com/office/drawing/2014/main" id="{2C0F1FF6-25C7-498F-89D9-EFD750C477A9}"/>
              </a:ext>
            </a:extLst>
          </p:cNvPr>
          <p:cNvSpPr>
            <a:spLocks xmlns:a="http://schemas.openxmlformats.org/drawingml/2006/main" noGrp="1"/>
          </p:cNvSpPr>
          <p:nvPr/>
        </p:nvSpPr>
        <p:spPr>
          <a:xfrm xmlns:a="http://schemas.openxmlformats.org/drawingml/2006/main">
            <a:off x="8077200" y="2914650"/>
            <a:ext cx="3257550" cy="76200"/>
          </a:xfrm>
          <a:prstGeom xmlns:a="http://schemas.openxmlformats.org/drawingml/2006/main" prst="rect">
            <a:avLst/>
          </a:prstGeom>
          <a:solidFill xmlns:a="http://schemas.openxmlformats.org/drawingml/2006/main">
            <a:srgbClr val="B63A31"/>
          </a:solidFill>
          <a:ln xmlns:a="http://schemas.openxmlformats.org/drawingml/2006/main" w="0">
            <a:solidFill>
              <a:srgbClr val="B63A31"/>
            </a:solidFill>
            <a:prstDash val="solid"/>
          </a:ln>
        </p:spPr>
      </p:sp>
      <p:sp>
        <p:nvSpPr>
          <p:cNvPr id="17" name="lane-c-title">
            <a:extLst xmlns:a="http://schemas.openxmlformats.org/drawingml/2006/main">
              <a:ext uri="{FF2B5EF4-FFF2-40B4-BE49-F238E27FC236}">
                <a16:creationId xmlns:a16="http://schemas.microsoft.com/office/drawing/2014/main" id="{D2264689-C1E8-4A28-8205-179358166670}"/>
              </a:ext>
            </a:extLst>
          </p:cNvPr>
          <p:cNvSpPr>
            <a:spLocks xmlns:a="http://schemas.openxmlformats.org/drawingml/2006/main" noGrp="1"/>
          </p:cNvSpPr>
          <p:nvPr/>
        </p:nvSpPr>
        <p:spPr>
          <a:xfrm xmlns:a="http://schemas.openxmlformats.org/drawingml/2006/main">
            <a:off x="8248650" y="31051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B63A31"/>
                </a:solidFill>
              </a:defRPr>
            </a:pPr>
            <a:r>
              <a:rPr sz="1275" b="1">
                <a:solidFill>
                  <a:srgbClr val="B63A31"/>
                </a:solidFill>
              </a:rPr>
              <a:t>Lane C / AI ad workflow</a:t>
            </a:r>
          </a:p>
        </p:txBody>
      </p:sp>
      <p:sp>
        <p:nvSpPr>
          <p:cNvPr id="18" name="lane-c-body">
            <a:extLst xmlns:a="http://schemas.openxmlformats.org/drawingml/2006/main">
              <a:ext uri="{FF2B5EF4-FFF2-40B4-BE49-F238E27FC236}">
                <a16:creationId xmlns:a16="http://schemas.microsoft.com/office/drawing/2014/main" id="{2149F20F-4EBF-47FA-809D-13C0D0A32C00}"/>
              </a:ext>
            </a:extLst>
          </p:cNvPr>
          <p:cNvSpPr>
            <a:spLocks xmlns:a="http://schemas.openxmlformats.org/drawingml/2006/main" noGrp="1"/>
          </p:cNvSpPr>
          <p:nvPr/>
        </p:nvSpPr>
        <p:spPr>
          <a:xfrm xmlns:a="http://schemas.openxmlformats.org/drawingml/2006/main">
            <a:off x="8248650" y="3467100"/>
            <a:ext cx="29146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Product URL, listing, or brief-to-ad workflows become handoff packets: source input, generated candidate, review anatomy, export state, and campaign owner.</a:t>
            </a:r>
          </a:p>
        </p:txBody>
      </p:sp>
      <p:sp>
        <p:nvSpPr>
          <p:cNvPr id="19" name="reading-order">
            <a:extLst xmlns:a="http://schemas.openxmlformats.org/drawingml/2006/main">
              <a:ext uri="{FF2B5EF4-FFF2-40B4-BE49-F238E27FC236}">
                <a16:creationId xmlns:a16="http://schemas.microsoft.com/office/drawing/2014/main" id="{54B24439-0210-48ED-B862-790D790ECACE}"/>
              </a:ext>
            </a:extLst>
          </p:cNvPr>
          <p:cNvSpPr>
            <a:spLocks xmlns:a="http://schemas.openxmlformats.org/drawingml/2006/main" noGrp="1"/>
          </p:cNvSpPr>
          <p:nvPr/>
        </p:nvSpPr>
        <p:spPr>
          <a:xfrm xmlns:a="http://schemas.openxmlformats.org/drawingml/2006/main">
            <a:off x="85725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6211D"/>
                </a:solidFill>
              </a:defRPr>
            </a:pPr>
            <a:r>
              <a:rPr sz="1350">
                <a:solidFill>
                  <a:srgbClr val="16211D"/>
                </a:solidFill>
              </a:rPr>
              <a:t>Default reading order for this sample: Lane C is the main before/after workflow story. Lane A and Lane B show that the same source-backed method also works for product claims and generated assets.</a:t>
            </a:r>
          </a:p>
        </p:txBody>
      </p:sp>
      <p:sp>
        <p:nvSpPr>
          <p:cNvPr id="20" name="boundary-footer">
            <a:extLst xmlns:a="http://schemas.openxmlformats.org/drawingml/2006/main">
              <a:ext uri="{FF2B5EF4-FFF2-40B4-BE49-F238E27FC236}">
                <a16:creationId xmlns:a16="http://schemas.microsoft.com/office/drawing/2014/main" id="{44A61A06-56FF-4750-8041-62143ABE8D24}"/>
              </a:ext>
            </a:extLst>
          </p:cNvPr>
          <p:cNvSpPr>
            <a:spLocks xmlns:a="http://schemas.openxmlformats.org/drawingml/2006/main" noGrp="1"/>
          </p:cNvSpPr>
          <p:nvPr/>
        </p:nvSpPr>
        <p:spPr>
          <a:xfrm xmlns:a="http://schemas.openxmlformats.org/drawingml/2006/main">
            <a:off x="685800" y="6191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2716B"/>
                </a:solidFill>
              </a:defRPr>
            </a:pPr>
            <a:r>
              <a:rPr sz="825">
                <a:solidFill>
                  <a:srgbClr val="62716B"/>
                </a:solidFill>
              </a:rPr>
              <a:t>Named companies are public examples only. They do not imply a VULCA customer, partner, endorsement, authorization source, or finding.</a:t>
            </a:r>
          </a:p>
        </p:txBody>
      </p:sp>
    </p:spTree>
    <p:extLst>
      <p:ext uri="{BB962C8B-B14F-4D97-AF65-F5344CB8AC3E}">
        <p14:creationId xmlns:p14="http://schemas.microsoft.com/office/powerpoint/2010/main" val="875796785"/>
      </p:ext>
    </p:extLst>
  </p:cSld>
</p:sld>
</file>

<file path=ppt/slides/slide3.xml><?xml version="1.0" encoding="utf-8"?>
<p:sld xmlns:p="http://schemas.openxmlformats.org/presentationml/2006/main">
  <p:cSld>
    <p:bg>
      <p:bgPr>
        <a:solidFill xmlns:a="http://schemas.openxmlformats.org/drawingml/2006/main">
          <a:srgbClr val="EDF4F0"/>
        </a:solidFill>
      </p:bgPr>
    </p:bg>
    <p:spTree>
      <p:nvGrpSpPr>
        <p:cNvPr id="1" name=""/>
        <p:cNvGrpSpPr/>
        <p:nvPr/>
      </p:nvGrpSpPr>
      <p:grpSpPr>
        <a:xfrm xmlns:a="http://schemas.openxmlformats.org/drawingml/2006/main"/>
      </p:grpSpPr>
      <p:sp>
        <p:nvSpPr>
          <p:cNvPr id="1" name="paper">
            <a:extLst xmlns:a="http://schemas.openxmlformats.org/drawingml/2006/main">
              <a:ext uri="{FF2B5EF4-FFF2-40B4-BE49-F238E27FC236}">
                <a16:creationId xmlns:a16="http://schemas.microsoft.com/office/drawing/2014/main" id="{417F2060-9586-4214-8125-86E437B20410}"/>
              </a:ext>
            </a:extLst>
          </p:cNvPr>
          <p:cNvSpPr>
            <a:spLocks xmlns:a="http://schemas.openxmlformats.org/drawingml/2006/main" noGrp="1"/>
          </p:cNvSpPr>
          <p:nvPr/>
        </p:nvSpPr>
        <p:spPr>
          <a:xfrm xmlns:a="http://schemas.openxmlformats.org/drawingml/2006/main">
            <a:off x="342900" y="285750"/>
            <a:ext cx="11506200" cy="6286500"/>
          </a:xfrm>
          <a:prstGeom xmlns:a="http://schemas.openxmlformats.org/drawingml/2006/main" prst="roundRect">
            <a:avLst>
              <a:gd name="adj" fmla="val 1212"/>
            </a:avLst>
          </a:prstGeom>
          <a:solidFill xmlns:a="http://schemas.openxmlformats.org/drawingml/2006/main">
            <a:srgbClr val="FBFCFA"/>
          </a:solidFill>
          <a:ln xmlns:a="http://schemas.openxmlformats.org/drawingml/2006/main" w="9525">
            <a:solidFill>
              <a:srgbClr val="FBFCFA"/>
            </a:solidFill>
            <a:prstDash val="solid"/>
          </a:ln>
        </p:spPr>
      </p:sp>
      <p:sp>
        <p:nvSpPr>
          <p:cNvPr id="2" name="top-rule">
            <a:extLst xmlns:a="http://schemas.openxmlformats.org/drawingml/2006/main">
              <a:ext uri="{FF2B5EF4-FFF2-40B4-BE49-F238E27FC236}">
                <a16:creationId xmlns:a16="http://schemas.microsoft.com/office/drawing/2014/main" id="{9C4617A0-2495-4070-80A1-B4A0AF0D1431}"/>
              </a:ext>
            </a:extLst>
          </p:cNvPr>
          <p:cNvSpPr>
            <a:spLocks xmlns:a="http://schemas.openxmlformats.org/drawingml/2006/main" noGrp="1"/>
          </p:cNvSpPr>
          <p:nvPr/>
        </p:nvSpPr>
        <p:spPr>
          <a:xfrm xmlns:a="http://schemas.openxmlformats.org/drawingml/2006/main">
            <a:off x="342900" y="571500"/>
            <a:ext cx="11506200" cy="9525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3" name="kicker">
            <a:extLst xmlns:a="http://schemas.openxmlformats.org/drawingml/2006/main">
              <a:ext uri="{FF2B5EF4-FFF2-40B4-BE49-F238E27FC236}">
                <a16:creationId xmlns:a16="http://schemas.microsoft.com/office/drawing/2014/main" id="{8F00671B-82EA-434D-9F27-D94E683F0874}"/>
              </a:ext>
            </a:extLst>
          </p:cNvPr>
          <p:cNvSpPr>
            <a:spLocks xmlns:a="http://schemas.openxmlformats.org/drawingml/2006/main" noGrp="1"/>
          </p:cNvSpPr>
          <p:nvPr/>
        </p:nvSpPr>
        <p:spPr>
          <a:xfrm xmlns:a="http://schemas.openxmlformats.org/drawingml/2006/main">
            <a:off x="685800" y="914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VULCA SOLUTION PACK V1</a:t>
            </a:r>
          </a:p>
        </p:txBody>
      </p:sp>
      <p:sp>
        <p:nvSpPr>
          <p:cNvPr id="4" name="page-marker">
            <a:extLst xmlns:a="http://schemas.openxmlformats.org/drawingml/2006/main">
              <a:ext uri="{FF2B5EF4-FFF2-40B4-BE49-F238E27FC236}">
                <a16:creationId xmlns:a16="http://schemas.microsoft.com/office/drawing/2014/main" id="{E743613C-907E-4920-8DCA-4A579D5524CD}"/>
              </a:ext>
            </a:extLst>
          </p:cNvPr>
          <p:cNvSpPr>
            <a:spLocks xmlns:a="http://schemas.openxmlformats.org/drawingml/2006/main" noGrp="1"/>
          </p:cNvSpPr>
          <p:nvPr/>
        </p:nvSpPr>
        <p:spPr>
          <a:xfrm xmlns:a="http://schemas.openxmlformats.org/drawingml/2006/main">
            <a:off x="809625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a:solidFill>
                  <a:srgbClr val="62716B"/>
                </a:solidFill>
              </a:defRPr>
            </a:pPr>
            <a:r>
              <a:rPr sz="1200">
                <a:solidFill>
                  <a:srgbClr val="62716B"/>
                </a:solidFill>
              </a:rPr>
              <a:t>Public example sample / Page 3</a:t>
            </a:r>
          </a:p>
        </p:txBody>
      </p:sp>
      <p:sp>
        <p:nvSpPr>
          <p:cNvPr id="5" name="title">
            <a:extLst xmlns:a="http://schemas.openxmlformats.org/drawingml/2006/main">
              <a:ext uri="{FF2B5EF4-FFF2-40B4-BE49-F238E27FC236}">
                <a16:creationId xmlns:a16="http://schemas.microsoft.com/office/drawing/2014/main" id="{4A3B8FBF-CFF0-4A74-9A28-770D19B3EFB2}"/>
              </a:ext>
            </a:extLst>
          </p:cNvPr>
          <p:cNvSpPr>
            <a:spLocks xmlns:a="http://schemas.openxmlformats.org/drawingml/2006/main" noGrp="1"/>
          </p:cNvSpPr>
          <p:nvPr/>
        </p:nvSpPr>
        <p:spPr>
          <a:xfrm xmlns:a="http://schemas.openxmlformats.org/drawingml/2006/main">
            <a:off x="685800" y="12573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6211D"/>
                </a:solidFill>
              </a:defRPr>
            </a:pPr>
            <a:r>
              <a:rPr sz="3000" b="1">
                <a:solidFill>
                  <a:srgbClr val="16211D"/>
                </a:solidFill>
              </a:rPr>
              <a:t>Before / After: AI Ad Workflow Handoff</a:t>
            </a:r>
          </a:p>
        </p:txBody>
      </p:sp>
      <p:sp>
        <p:nvSpPr>
          <p:cNvPr id="6" name="before-card">
            <a:extLst xmlns:a="http://schemas.openxmlformats.org/drawingml/2006/main">
              <a:ext uri="{FF2B5EF4-FFF2-40B4-BE49-F238E27FC236}">
                <a16:creationId xmlns:a16="http://schemas.microsoft.com/office/drawing/2014/main" id="{75AE7AFA-D9DC-4253-882F-41D2175F36C3}"/>
              </a:ext>
            </a:extLst>
          </p:cNvPr>
          <p:cNvSpPr>
            <a:spLocks xmlns:a="http://schemas.openxmlformats.org/drawingml/2006/main" noGrp="1"/>
          </p:cNvSpPr>
          <p:nvPr/>
        </p:nvSpPr>
        <p:spPr>
          <a:xfrm xmlns:a="http://schemas.openxmlformats.org/drawingml/2006/main">
            <a:off x="723900" y="2305050"/>
            <a:ext cx="4000500" cy="1562100"/>
          </a:xfrm>
          <a:prstGeom xmlns:a="http://schemas.openxmlformats.org/drawingml/2006/main" prst="roundRect">
            <a:avLst>
              <a:gd name="adj" fmla="val 4878"/>
            </a:avLst>
          </a:prstGeom>
          <a:solidFill xmlns:a="http://schemas.openxmlformats.org/drawingml/2006/main">
            <a:srgbClr val="F8E0DC"/>
          </a:solidFill>
          <a:ln xmlns:a="http://schemas.openxmlformats.org/drawingml/2006/main" w="9525">
            <a:solidFill>
              <a:srgbClr val="B63A31"/>
            </a:solidFill>
            <a:prstDash val="solid"/>
          </a:ln>
        </p:spPr>
      </p:sp>
      <p:sp>
        <p:nvSpPr>
          <p:cNvPr id="7" name="before-accent">
            <a:extLst xmlns:a="http://schemas.openxmlformats.org/drawingml/2006/main">
              <a:ext uri="{FF2B5EF4-FFF2-40B4-BE49-F238E27FC236}">
                <a16:creationId xmlns:a16="http://schemas.microsoft.com/office/drawing/2014/main" id="{12A9FEFD-C7AF-4545-8225-01FC5CB2A3FA}"/>
              </a:ext>
            </a:extLst>
          </p:cNvPr>
          <p:cNvSpPr>
            <a:spLocks xmlns:a="http://schemas.openxmlformats.org/drawingml/2006/main" noGrp="1"/>
          </p:cNvSpPr>
          <p:nvPr/>
        </p:nvSpPr>
        <p:spPr>
          <a:xfrm xmlns:a="http://schemas.openxmlformats.org/drawingml/2006/main">
            <a:off x="723900" y="2305050"/>
            <a:ext cx="4000500" cy="76200"/>
          </a:xfrm>
          <a:prstGeom xmlns:a="http://schemas.openxmlformats.org/drawingml/2006/main" prst="rect">
            <a:avLst/>
          </a:prstGeom>
          <a:solidFill xmlns:a="http://schemas.openxmlformats.org/drawingml/2006/main">
            <a:srgbClr val="B63A31"/>
          </a:solidFill>
          <a:ln xmlns:a="http://schemas.openxmlformats.org/drawingml/2006/main" w="0">
            <a:solidFill>
              <a:srgbClr val="B63A31"/>
            </a:solidFill>
            <a:prstDash val="solid"/>
          </a:ln>
        </p:spPr>
      </p:sp>
      <p:sp>
        <p:nvSpPr>
          <p:cNvPr id="8" name="before-title">
            <a:extLst xmlns:a="http://schemas.openxmlformats.org/drawingml/2006/main">
              <a:ext uri="{FF2B5EF4-FFF2-40B4-BE49-F238E27FC236}">
                <a16:creationId xmlns:a16="http://schemas.microsoft.com/office/drawing/2014/main" id="{930807D9-E549-4081-8040-3CD7AF7E13BB}"/>
              </a:ext>
            </a:extLst>
          </p:cNvPr>
          <p:cNvSpPr>
            <a:spLocks xmlns:a="http://schemas.openxmlformats.org/drawingml/2006/main" noGrp="1"/>
          </p:cNvSpPr>
          <p:nvPr/>
        </p:nvSpPr>
        <p:spPr>
          <a:xfrm xmlns:a="http://schemas.openxmlformats.org/drawingml/2006/main">
            <a:off x="895350" y="2495550"/>
            <a:ext cx="3657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B63A31"/>
                </a:solidFill>
              </a:defRPr>
            </a:pPr>
            <a:r>
              <a:rPr sz="1800" b="1">
                <a:solidFill>
                  <a:srgbClr val="B63A31"/>
                </a:solidFill>
              </a:rPr>
              <a:t>Before VULCA</a:t>
            </a:r>
          </a:p>
        </p:txBody>
      </p:sp>
      <p:sp>
        <p:nvSpPr>
          <p:cNvPr id="9" name="before-body">
            <a:extLst xmlns:a="http://schemas.openxmlformats.org/drawingml/2006/main">
              <a:ext uri="{FF2B5EF4-FFF2-40B4-BE49-F238E27FC236}">
                <a16:creationId xmlns:a16="http://schemas.microsoft.com/office/drawing/2014/main" id="{2DD47FF2-8496-4B50-9A03-2EC0A4AAA084}"/>
              </a:ext>
            </a:extLst>
          </p:cNvPr>
          <p:cNvSpPr>
            <a:spLocks xmlns:a="http://schemas.openxmlformats.org/drawingml/2006/main" noGrp="1"/>
          </p:cNvSpPr>
          <p:nvPr/>
        </p:nvSpPr>
        <p:spPr>
          <a:xfrm xmlns:a="http://schemas.openxmlformats.org/drawingml/2006/main">
            <a:off x="895350" y="2857500"/>
            <a:ext cx="3657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16211D"/>
                </a:solidFill>
              </a:defRPr>
            </a:pPr>
            <a:r>
              <a:rPr sz="1275">
                <a:solidFill>
                  <a:srgbClr val="16211D"/>
                </a:solidFill>
              </a:rPr>
              <a:t>Campaign candidates move faster than review context: source input, export state, missing fields, and owner route sit apart.</a:t>
            </a:r>
          </a:p>
        </p:txBody>
      </p:sp>
      <p:sp>
        <p:nvSpPr>
          <p:cNvPr id="10" name="after-card">
            <a:extLst xmlns:a="http://schemas.openxmlformats.org/drawingml/2006/main">
              <a:ext uri="{FF2B5EF4-FFF2-40B4-BE49-F238E27FC236}">
                <a16:creationId xmlns:a16="http://schemas.microsoft.com/office/drawing/2014/main" id="{8F084DB8-C19C-4FB7-B2D4-12C5BD93144D}"/>
              </a:ext>
            </a:extLst>
          </p:cNvPr>
          <p:cNvSpPr>
            <a:spLocks xmlns:a="http://schemas.openxmlformats.org/drawingml/2006/main" noGrp="1"/>
          </p:cNvSpPr>
          <p:nvPr/>
        </p:nvSpPr>
        <p:spPr>
          <a:xfrm xmlns:a="http://schemas.openxmlformats.org/drawingml/2006/main">
            <a:off x="723900" y="4095750"/>
            <a:ext cx="4000500" cy="1562100"/>
          </a:xfrm>
          <a:prstGeom xmlns:a="http://schemas.openxmlformats.org/drawingml/2006/main" prst="roundRect">
            <a:avLst>
              <a:gd name="adj" fmla="val 4878"/>
            </a:avLst>
          </a:prstGeom>
          <a:solidFill xmlns:a="http://schemas.openxmlformats.org/drawingml/2006/main">
            <a:srgbClr val="DFF1EC"/>
          </a:solidFill>
          <a:ln xmlns:a="http://schemas.openxmlformats.org/drawingml/2006/main" w="9525">
            <a:solidFill>
              <a:srgbClr val="007F73"/>
            </a:solidFill>
            <a:prstDash val="solid"/>
          </a:ln>
        </p:spPr>
      </p:sp>
      <p:sp>
        <p:nvSpPr>
          <p:cNvPr id="11" name="after-accent">
            <a:extLst xmlns:a="http://schemas.openxmlformats.org/drawingml/2006/main">
              <a:ext uri="{FF2B5EF4-FFF2-40B4-BE49-F238E27FC236}">
                <a16:creationId xmlns:a16="http://schemas.microsoft.com/office/drawing/2014/main" id="{1511438A-7373-4B9F-AE22-E79DE1212DDE}"/>
              </a:ext>
            </a:extLst>
          </p:cNvPr>
          <p:cNvSpPr>
            <a:spLocks xmlns:a="http://schemas.openxmlformats.org/drawingml/2006/main" noGrp="1"/>
          </p:cNvSpPr>
          <p:nvPr/>
        </p:nvSpPr>
        <p:spPr>
          <a:xfrm xmlns:a="http://schemas.openxmlformats.org/drawingml/2006/main">
            <a:off x="723900" y="4095750"/>
            <a:ext cx="4000500" cy="762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12" name="after-title">
            <a:extLst xmlns:a="http://schemas.openxmlformats.org/drawingml/2006/main">
              <a:ext uri="{FF2B5EF4-FFF2-40B4-BE49-F238E27FC236}">
                <a16:creationId xmlns:a16="http://schemas.microsoft.com/office/drawing/2014/main" id="{8EA7FD68-82DC-4A01-A6AB-410252E3FB73}"/>
              </a:ext>
            </a:extLst>
          </p:cNvPr>
          <p:cNvSpPr>
            <a:spLocks xmlns:a="http://schemas.openxmlformats.org/drawingml/2006/main" noGrp="1"/>
          </p:cNvSpPr>
          <p:nvPr/>
        </p:nvSpPr>
        <p:spPr>
          <a:xfrm xmlns:a="http://schemas.openxmlformats.org/drawingml/2006/main">
            <a:off x="895350" y="4286250"/>
            <a:ext cx="3657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07F73"/>
                </a:solidFill>
              </a:defRPr>
            </a:pPr>
            <a:r>
              <a:rPr sz="1800" b="1">
                <a:solidFill>
                  <a:srgbClr val="007F73"/>
                </a:solidFill>
              </a:rPr>
              <a:t>After VULCA</a:t>
            </a:r>
          </a:p>
        </p:txBody>
      </p:sp>
      <p:sp>
        <p:nvSpPr>
          <p:cNvPr id="13" name="after-body">
            <a:extLst xmlns:a="http://schemas.openxmlformats.org/drawingml/2006/main">
              <a:ext uri="{FF2B5EF4-FFF2-40B4-BE49-F238E27FC236}">
                <a16:creationId xmlns:a16="http://schemas.microsoft.com/office/drawing/2014/main" id="{C04D5435-F0DB-45AD-9B4B-44EDC859E9BF}"/>
              </a:ext>
            </a:extLst>
          </p:cNvPr>
          <p:cNvSpPr>
            <a:spLocks xmlns:a="http://schemas.openxmlformats.org/drawingml/2006/main" noGrp="1"/>
          </p:cNvSpPr>
          <p:nvPr/>
        </p:nvSpPr>
        <p:spPr>
          <a:xfrm xmlns:a="http://schemas.openxmlformats.org/drawingml/2006/main">
            <a:off x="895350" y="4648200"/>
            <a:ext cx="3657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16211D"/>
                </a:solidFill>
              </a:defRPr>
            </a:pPr>
            <a:r>
              <a:rPr sz="1275">
                <a:solidFill>
                  <a:srgbClr val="16211D"/>
                </a:solidFill>
              </a:rPr>
              <a:t>The same flow becomes one packet: source input, generated candidate, review anatomy, missing-field list, owner route, and human gate.</a:t>
            </a:r>
          </a:p>
        </p:txBody>
      </p:sp>
      <p:sp>
        <p:nvSpPr>
          <p:cNvPr id="14" name="creatify-card-frame">
            <a:extLst xmlns:a="http://schemas.openxmlformats.org/drawingml/2006/main">
              <a:ext uri="{FF2B5EF4-FFF2-40B4-BE49-F238E27FC236}">
                <a16:creationId xmlns:a16="http://schemas.microsoft.com/office/drawing/2014/main" id="{C0F238E9-F6CF-488B-BE5B-50806EC56114}"/>
              </a:ext>
            </a:extLst>
          </p:cNvPr>
          <p:cNvSpPr>
            <a:spLocks xmlns:a="http://schemas.openxmlformats.org/drawingml/2006/main" noGrp="1"/>
          </p:cNvSpPr>
          <p:nvPr/>
        </p:nvSpPr>
        <p:spPr>
          <a:xfrm xmlns:a="http://schemas.openxmlformats.org/drawingml/2006/main">
            <a:off x="5257800" y="1962150"/>
            <a:ext cx="6381750" cy="3733800"/>
          </a:xfrm>
          <a:prstGeom xmlns:a="http://schemas.openxmlformats.org/drawingml/2006/main" prst="roundRect">
            <a:avLst>
              <a:gd name="adj" fmla="val 2041"/>
            </a:avLst>
          </a:prstGeom>
          <a:solidFill xmlns:a="http://schemas.openxmlformats.org/drawingml/2006/main">
            <a:srgbClr val="FFFFFF"/>
          </a:solidFill>
          <a:ln xmlns:a="http://schemas.openxmlformats.org/drawingml/2006/main" w="9525">
            <a:solidFill>
              <a:srgbClr val="C8D0CC"/>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2d9b72fff184814"/>
          <a:stretch xmlns:a="http://schemas.openxmlformats.org/drawingml/2006/main"/>
        </p:blipFill>
        <p:spPr>
          <a:xfrm xmlns:a="http://schemas.openxmlformats.org/drawingml/2006/main">
            <a:off x="5987538" y="2133600"/>
            <a:ext cx="4922274" cy="3390900"/>
          </a:xfrm>
          <a:prstGeom xmlns:a="http://schemas.openxmlformats.org/drawingml/2006/main" prst="roundRect">
            <a:avLst>
              <a:gd name="adj" fmla="val 2247"/>
            </a:avLst>
          </a:prstGeom>
        </p:spPr>
      </p:pic>
      <p:sp>
        <p:nvSpPr>
          <p:cNvPr id="16" name="lane-c-proof-label">
            <a:extLst xmlns:a="http://schemas.openxmlformats.org/drawingml/2006/main">
              <a:ext uri="{FF2B5EF4-FFF2-40B4-BE49-F238E27FC236}">
                <a16:creationId xmlns:a16="http://schemas.microsoft.com/office/drawing/2014/main" id="{9A7E70C5-5809-49C0-BC33-7DA451CD8E06}"/>
              </a:ext>
            </a:extLst>
          </p:cNvPr>
          <p:cNvSpPr>
            <a:spLocks xmlns:a="http://schemas.openxmlformats.org/drawingml/2006/main" noGrp="1"/>
          </p:cNvSpPr>
          <p:nvPr/>
        </p:nvSpPr>
        <p:spPr>
          <a:xfrm xmlns:a="http://schemas.openxmlformats.org/drawingml/2006/main">
            <a:off x="5486400" y="5791200"/>
            <a:ext cx="592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Source-safe example card; not vendor proof or performance prediction.</a:t>
            </a:r>
          </a:p>
        </p:txBody>
      </p:sp>
      <p:sp>
        <p:nvSpPr>
          <p:cNvPr id="17" name="boundary-footer">
            <a:extLst xmlns:a="http://schemas.openxmlformats.org/drawingml/2006/main">
              <a:ext uri="{FF2B5EF4-FFF2-40B4-BE49-F238E27FC236}">
                <a16:creationId xmlns:a16="http://schemas.microsoft.com/office/drawing/2014/main" id="{1F8C5A23-695F-4A3A-92D7-03D3049EB742}"/>
              </a:ext>
            </a:extLst>
          </p:cNvPr>
          <p:cNvSpPr>
            <a:spLocks xmlns:a="http://schemas.openxmlformats.org/drawingml/2006/main" noGrp="1"/>
          </p:cNvSpPr>
          <p:nvPr/>
        </p:nvSpPr>
        <p:spPr>
          <a:xfrm xmlns:a="http://schemas.openxmlformats.org/drawingml/2006/main">
            <a:off x="685800" y="6191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2716B"/>
                </a:solidFill>
              </a:defRPr>
            </a:pPr>
            <a:r>
              <a:rPr sz="825">
                <a:solidFill>
                  <a:srgbClr val="62716B"/>
                </a:solidFill>
              </a:rPr>
              <a:t>Named companies are public examples only. They do not imply a VULCA customer, partner, endorsement, authorization source, or finding.</a:t>
            </a:r>
          </a:p>
        </p:txBody>
      </p:sp>
    </p:spTree>
    <p:extLst>
      <p:ext uri="{BB962C8B-B14F-4D97-AF65-F5344CB8AC3E}">
        <p14:creationId xmlns:p14="http://schemas.microsoft.com/office/powerpoint/2010/main" val="1654116396"/>
      </p:ext>
    </p:extLst>
  </p:cSld>
</p:sld>
</file>

<file path=ppt/slides/slide4.xml><?xml version="1.0" encoding="utf-8"?>
<p:sld xmlns:p="http://schemas.openxmlformats.org/presentationml/2006/main">
  <p:cSld>
    <p:bg>
      <p:bgPr>
        <a:solidFill xmlns:a="http://schemas.openxmlformats.org/drawingml/2006/main">
          <a:srgbClr val="EDF4F0"/>
        </a:solidFill>
      </p:bgPr>
    </p:bg>
    <p:spTree>
      <p:nvGrpSpPr>
        <p:cNvPr id="1" name=""/>
        <p:cNvGrpSpPr/>
        <p:nvPr/>
      </p:nvGrpSpPr>
      <p:grpSpPr>
        <a:xfrm xmlns:a="http://schemas.openxmlformats.org/drawingml/2006/main"/>
      </p:grpSpPr>
      <p:sp>
        <p:nvSpPr>
          <p:cNvPr id="1" name="paper">
            <a:extLst xmlns:a="http://schemas.openxmlformats.org/drawingml/2006/main">
              <a:ext uri="{FF2B5EF4-FFF2-40B4-BE49-F238E27FC236}">
                <a16:creationId xmlns:a16="http://schemas.microsoft.com/office/drawing/2014/main" id="{86EF606B-A7C9-4DDE-ADE2-DB5ED63C370B}"/>
              </a:ext>
            </a:extLst>
          </p:cNvPr>
          <p:cNvSpPr>
            <a:spLocks xmlns:a="http://schemas.openxmlformats.org/drawingml/2006/main" noGrp="1"/>
          </p:cNvSpPr>
          <p:nvPr/>
        </p:nvSpPr>
        <p:spPr>
          <a:xfrm xmlns:a="http://schemas.openxmlformats.org/drawingml/2006/main">
            <a:off x="342900" y="285750"/>
            <a:ext cx="11506200" cy="6286500"/>
          </a:xfrm>
          <a:prstGeom xmlns:a="http://schemas.openxmlformats.org/drawingml/2006/main" prst="roundRect">
            <a:avLst>
              <a:gd name="adj" fmla="val 1212"/>
            </a:avLst>
          </a:prstGeom>
          <a:solidFill xmlns:a="http://schemas.openxmlformats.org/drawingml/2006/main">
            <a:srgbClr val="FBFCFA"/>
          </a:solidFill>
          <a:ln xmlns:a="http://schemas.openxmlformats.org/drawingml/2006/main" w="9525">
            <a:solidFill>
              <a:srgbClr val="FBFCFA"/>
            </a:solidFill>
            <a:prstDash val="solid"/>
          </a:ln>
        </p:spPr>
      </p:sp>
      <p:sp>
        <p:nvSpPr>
          <p:cNvPr id="2" name="top-rule">
            <a:extLst xmlns:a="http://schemas.openxmlformats.org/drawingml/2006/main">
              <a:ext uri="{FF2B5EF4-FFF2-40B4-BE49-F238E27FC236}">
                <a16:creationId xmlns:a16="http://schemas.microsoft.com/office/drawing/2014/main" id="{03F22E25-F872-484D-8A32-4B76CCD09BEE}"/>
              </a:ext>
            </a:extLst>
          </p:cNvPr>
          <p:cNvSpPr>
            <a:spLocks xmlns:a="http://schemas.openxmlformats.org/drawingml/2006/main" noGrp="1"/>
          </p:cNvSpPr>
          <p:nvPr/>
        </p:nvSpPr>
        <p:spPr>
          <a:xfrm xmlns:a="http://schemas.openxmlformats.org/drawingml/2006/main">
            <a:off x="342900" y="571500"/>
            <a:ext cx="11506200" cy="9525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3" name="kicker">
            <a:extLst xmlns:a="http://schemas.openxmlformats.org/drawingml/2006/main">
              <a:ext uri="{FF2B5EF4-FFF2-40B4-BE49-F238E27FC236}">
                <a16:creationId xmlns:a16="http://schemas.microsoft.com/office/drawing/2014/main" id="{59229954-8FBB-435E-961B-B12EA29CEC2E}"/>
              </a:ext>
            </a:extLst>
          </p:cNvPr>
          <p:cNvSpPr>
            <a:spLocks xmlns:a="http://schemas.openxmlformats.org/drawingml/2006/main" noGrp="1"/>
          </p:cNvSpPr>
          <p:nvPr/>
        </p:nvSpPr>
        <p:spPr>
          <a:xfrm xmlns:a="http://schemas.openxmlformats.org/drawingml/2006/main">
            <a:off x="685800" y="914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VULCA SOLUTION PACK V1</a:t>
            </a:r>
          </a:p>
        </p:txBody>
      </p:sp>
      <p:sp>
        <p:nvSpPr>
          <p:cNvPr id="4" name="page-marker">
            <a:extLst xmlns:a="http://schemas.openxmlformats.org/drawingml/2006/main">
              <a:ext uri="{FF2B5EF4-FFF2-40B4-BE49-F238E27FC236}">
                <a16:creationId xmlns:a16="http://schemas.microsoft.com/office/drawing/2014/main" id="{D92B4DCA-020F-4FDA-B74D-EDC33871D955}"/>
              </a:ext>
            </a:extLst>
          </p:cNvPr>
          <p:cNvSpPr>
            <a:spLocks xmlns:a="http://schemas.openxmlformats.org/drawingml/2006/main" noGrp="1"/>
          </p:cNvSpPr>
          <p:nvPr/>
        </p:nvSpPr>
        <p:spPr>
          <a:xfrm xmlns:a="http://schemas.openxmlformats.org/drawingml/2006/main">
            <a:off x="809625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a:solidFill>
                  <a:srgbClr val="62716B"/>
                </a:solidFill>
              </a:defRPr>
            </a:pPr>
            <a:r>
              <a:rPr sz="1200">
                <a:solidFill>
                  <a:srgbClr val="62716B"/>
                </a:solidFill>
              </a:rPr>
              <a:t>Public example sample / Page 4</a:t>
            </a:r>
          </a:p>
        </p:txBody>
      </p:sp>
      <p:sp>
        <p:nvSpPr>
          <p:cNvPr id="5" name="title">
            <a:extLst xmlns:a="http://schemas.openxmlformats.org/drawingml/2006/main">
              <a:ext uri="{FF2B5EF4-FFF2-40B4-BE49-F238E27FC236}">
                <a16:creationId xmlns:a16="http://schemas.microsoft.com/office/drawing/2014/main" id="{28751ED2-55B0-40D7-9E5B-7812BD679803}"/>
              </a:ext>
            </a:extLst>
          </p:cNvPr>
          <p:cNvSpPr>
            <a:spLocks xmlns:a="http://schemas.openxmlformats.org/drawingml/2006/main" noGrp="1"/>
          </p:cNvSpPr>
          <p:nvPr/>
        </p:nvSpPr>
        <p:spPr>
          <a:xfrm xmlns:a="http://schemas.openxmlformats.org/drawingml/2006/main">
            <a:off x="685800" y="12573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6211D"/>
                </a:solidFill>
              </a:defRPr>
            </a:pPr>
            <a:r>
              <a:rPr sz="3000" b="1">
                <a:solidFill>
                  <a:srgbClr val="16211D"/>
                </a:solidFill>
              </a:rPr>
              <a:t>Supporting Proof A: Product-Truth Evidence</a:t>
            </a:r>
          </a:p>
        </p:txBody>
      </p:sp>
      <p:sp>
        <p:nvSpPr>
          <p:cNvPr id="6" name="lane-a-summary">
            <a:extLst xmlns:a="http://schemas.openxmlformats.org/drawingml/2006/main">
              <a:ext uri="{FF2B5EF4-FFF2-40B4-BE49-F238E27FC236}">
                <a16:creationId xmlns:a16="http://schemas.microsoft.com/office/drawing/2014/main" id="{EC6CD7FF-816C-41C5-B94B-1DB0E8AC1114}"/>
              </a:ext>
            </a:extLst>
          </p:cNvPr>
          <p:cNvSpPr>
            <a:spLocks xmlns:a="http://schemas.openxmlformats.org/drawingml/2006/main" noGrp="1"/>
          </p:cNvSpPr>
          <p:nvPr/>
        </p:nvSpPr>
        <p:spPr>
          <a:xfrm xmlns:a="http://schemas.openxmlformats.org/drawingml/2006/main">
            <a:off x="685800" y="20383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62716B"/>
                </a:solidFill>
              </a:defRPr>
            </a:pPr>
            <a:r>
              <a:rPr sz="1350">
                <a:solidFill>
                  <a:srgbClr val="62716B"/>
                </a:solidFill>
              </a:rPr>
              <a:t>A public product or campaign surface can be translated into reviewable fields before reuse.</a:t>
            </a:r>
          </a:p>
        </p:txBody>
      </p:sp>
      <p:sp>
        <p:nvSpPr>
          <p:cNvPr id="7" name="a-source-card">
            <a:extLst xmlns:a="http://schemas.openxmlformats.org/drawingml/2006/main">
              <a:ext uri="{FF2B5EF4-FFF2-40B4-BE49-F238E27FC236}">
                <a16:creationId xmlns:a16="http://schemas.microsoft.com/office/drawing/2014/main" id="{A2B7D290-3B49-4DB3-A855-A0886E6CC0F6}"/>
              </a:ext>
            </a:extLst>
          </p:cNvPr>
          <p:cNvSpPr>
            <a:spLocks xmlns:a="http://schemas.openxmlformats.org/drawingml/2006/main" noGrp="1"/>
          </p:cNvSpPr>
          <p:nvPr/>
        </p:nvSpPr>
        <p:spPr>
          <a:xfrm xmlns:a="http://schemas.openxmlformats.org/drawingml/2006/main">
            <a:off x="781050" y="2724150"/>
            <a:ext cx="2495550" cy="1181100"/>
          </a:xfrm>
          <a:prstGeom xmlns:a="http://schemas.openxmlformats.org/drawingml/2006/main" prst="roundRect">
            <a:avLst>
              <a:gd name="adj" fmla="val 6452"/>
            </a:avLst>
          </a:prstGeom>
          <a:solidFill xmlns:a="http://schemas.openxmlformats.org/drawingml/2006/main">
            <a:srgbClr val="E4F4F8"/>
          </a:solidFill>
          <a:ln xmlns:a="http://schemas.openxmlformats.org/drawingml/2006/main" w="9525">
            <a:solidFill>
              <a:srgbClr val="0D6F91"/>
            </a:solidFill>
            <a:prstDash val="solid"/>
          </a:ln>
        </p:spPr>
      </p:sp>
      <p:sp>
        <p:nvSpPr>
          <p:cNvPr id="8" name="a-source-accent">
            <a:extLst xmlns:a="http://schemas.openxmlformats.org/drawingml/2006/main">
              <a:ext uri="{FF2B5EF4-FFF2-40B4-BE49-F238E27FC236}">
                <a16:creationId xmlns:a16="http://schemas.microsoft.com/office/drawing/2014/main" id="{30780D37-D4B8-4369-B0DF-3CB23306F295}"/>
              </a:ext>
            </a:extLst>
          </p:cNvPr>
          <p:cNvSpPr>
            <a:spLocks xmlns:a="http://schemas.openxmlformats.org/drawingml/2006/main" noGrp="1"/>
          </p:cNvSpPr>
          <p:nvPr/>
        </p:nvSpPr>
        <p:spPr>
          <a:xfrm xmlns:a="http://schemas.openxmlformats.org/drawingml/2006/main">
            <a:off x="781050" y="2724150"/>
            <a:ext cx="2495550" cy="76200"/>
          </a:xfrm>
          <a:prstGeom xmlns:a="http://schemas.openxmlformats.org/drawingml/2006/main" prst="rect">
            <a:avLst/>
          </a:prstGeom>
          <a:solidFill xmlns:a="http://schemas.openxmlformats.org/drawingml/2006/main">
            <a:srgbClr val="0D6F91"/>
          </a:solidFill>
          <a:ln xmlns:a="http://schemas.openxmlformats.org/drawingml/2006/main" w="0">
            <a:solidFill>
              <a:srgbClr val="0D6F91"/>
            </a:solidFill>
            <a:prstDash val="solid"/>
          </a:ln>
        </p:spPr>
      </p:sp>
      <p:sp>
        <p:nvSpPr>
          <p:cNvPr id="9" name="a-source-title">
            <a:extLst xmlns:a="http://schemas.openxmlformats.org/drawingml/2006/main">
              <a:ext uri="{FF2B5EF4-FFF2-40B4-BE49-F238E27FC236}">
                <a16:creationId xmlns:a16="http://schemas.microsoft.com/office/drawing/2014/main" id="{1BC471DC-7F31-4758-A24F-4B7CE0C19453}"/>
              </a:ext>
            </a:extLst>
          </p:cNvPr>
          <p:cNvSpPr>
            <a:spLocks xmlns:a="http://schemas.openxmlformats.org/drawingml/2006/main" noGrp="1"/>
          </p:cNvSpPr>
          <p:nvPr/>
        </p:nvSpPr>
        <p:spPr>
          <a:xfrm xmlns:a="http://schemas.openxmlformats.org/drawingml/2006/main">
            <a:off x="952500" y="29146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D6F91"/>
                </a:solidFill>
              </a:defRPr>
            </a:pPr>
            <a:r>
              <a:rPr sz="1275" b="1">
                <a:solidFill>
                  <a:srgbClr val="0D6F91"/>
                </a:solidFill>
              </a:rPr>
              <a:t>1. Public source surface</a:t>
            </a:r>
          </a:p>
        </p:txBody>
      </p:sp>
      <p:sp>
        <p:nvSpPr>
          <p:cNvPr id="10" name="a-source-body">
            <a:extLst xmlns:a="http://schemas.openxmlformats.org/drawingml/2006/main">
              <a:ext uri="{FF2B5EF4-FFF2-40B4-BE49-F238E27FC236}">
                <a16:creationId xmlns:a16="http://schemas.microsoft.com/office/drawing/2014/main" id="{4A4DD4C5-7A3E-42B8-9114-52A174DFAD98}"/>
              </a:ext>
            </a:extLst>
          </p:cNvPr>
          <p:cNvSpPr>
            <a:spLocks xmlns:a="http://schemas.openxmlformats.org/drawingml/2006/main" noGrp="1"/>
          </p:cNvSpPr>
          <p:nvPr/>
        </p:nvSpPr>
        <p:spPr>
          <a:xfrm xmlns:a="http://schemas.openxmlformats.org/drawingml/2006/main">
            <a:off x="952500" y="327660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Material, product view, offer cue, and channel context.</a:t>
            </a:r>
          </a:p>
        </p:txBody>
      </p:sp>
      <p:sp>
        <p:nvSpPr>
          <p:cNvPr id="11" name="a-field-card">
            <a:extLst xmlns:a="http://schemas.openxmlformats.org/drawingml/2006/main">
              <a:ext uri="{FF2B5EF4-FFF2-40B4-BE49-F238E27FC236}">
                <a16:creationId xmlns:a16="http://schemas.microsoft.com/office/drawing/2014/main" id="{F7BE3EE7-2CAA-46B1-A7AA-4267D3973C63}"/>
              </a:ext>
            </a:extLst>
          </p:cNvPr>
          <p:cNvSpPr>
            <a:spLocks xmlns:a="http://schemas.openxmlformats.org/drawingml/2006/main" noGrp="1"/>
          </p:cNvSpPr>
          <p:nvPr/>
        </p:nvSpPr>
        <p:spPr>
          <a:xfrm xmlns:a="http://schemas.openxmlformats.org/drawingml/2006/main">
            <a:off x="3524250" y="2724150"/>
            <a:ext cx="2495550" cy="1181100"/>
          </a:xfrm>
          <a:prstGeom xmlns:a="http://schemas.openxmlformats.org/drawingml/2006/main" prst="roundRect">
            <a:avLst>
              <a:gd name="adj" fmla="val 6452"/>
            </a:avLst>
          </a:prstGeom>
          <a:solidFill xmlns:a="http://schemas.openxmlformats.org/drawingml/2006/main">
            <a:srgbClr val="DFF1EC"/>
          </a:solidFill>
          <a:ln xmlns:a="http://schemas.openxmlformats.org/drawingml/2006/main" w="9525">
            <a:solidFill>
              <a:srgbClr val="007F73"/>
            </a:solidFill>
            <a:prstDash val="solid"/>
          </a:ln>
        </p:spPr>
      </p:sp>
      <p:sp>
        <p:nvSpPr>
          <p:cNvPr id="12" name="a-field-accent">
            <a:extLst xmlns:a="http://schemas.openxmlformats.org/drawingml/2006/main">
              <a:ext uri="{FF2B5EF4-FFF2-40B4-BE49-F238E27FC236}">
                <a16:creationId xmlns:a16="http://schemas.microsoft.com/office/drawing/2014/main" id="{413F0ABC-C60C-4D71-9C0F-C563CE6EBB09}"/>
              </a:ext>
            </a:extLst>
          </p:cNvPr>
          <p:cNvSpPr>
            <a:spLocks xmlns:a="http://schemas.openxmlformats.org/drawingml/2006/main" noGrp="1"/>
          </p:cNvSpPr>
          <p:nvPr/>
        </p:nvSpPr>
        <p:spPr>
          <a:xfrm xmlns:a="http://schemas.openxmlformats.org/drawingml/2006/main">
            <a:off x="3524250" y="2724150"/>
            <a:ext cx="2495550" cy="762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13" name="a-field-title">
            <a:extLst xmlns:a="http://schemas.openxmlformats.org/drawingml/2006/main">
              <a:ext uri="{FF2B5EF4-FFF2-40B4-BE49-F238E27FC236}">
                <a16:creationId xmlns:a16="http://schemas.microsoft.com/office/drawing/2014/main" id="{CD108AD1-EDD5-4BF3-8442-D348E3741DC7}"/>
              </a:ext>
            </a:extLst>
          </p:cNvPr>
          <p:cNvSpPr>
            <a:spLocks xmlns:a="http://schemas.openxmlformats.org/drawingml/2006/main" noGrp="1"/>
          </p:cNvSpPr>
          <p:nvPr/>
        </p:nvSpPr>
        <p:spPr>
          <a:xfrm xmlns:a="http://schemas.openxmlformats.org/drawingml/2006/main">
            <a:off x="3695700" y="29146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07F73"/>
                </a:solidFill>
              </a:defRPr>
            </a:pPr>
            <a:r>
              <a:rPr sz="1275" b="1">
                <a:solidFill>
                  <a:srgbClr val="007F73"/>
                </a:solidFill>
              </a:rPr>
              <a:t>2. VULCA field read</a:t>
            </a:r>
          </a:p>
        </p:txBody>
      </p:sp>
      <p:sp>
        <p:nvSpPr>
          <p:cNvPr id="14" name="a-field-body">
            <a:extLst xmlns:a="http://schemas.openxmlformats.org/drawingml/2006/main">
              <a:ext uri="{FF2B5EF4-FFF2-40B4-BE49-F238E27FC236}">
                <a16:creationId xmlns:a16="http://schemas.microsoft.com/office/drawing/2014/main" id="{B314B535-B871-4869-B614-FF8D2BE92664}"/>
              </a:ext>
            </a:extLst>
          </p:cNvPr>
          <p:cNvSpPr>
            <a:spLocks xmlns:a="http://schemas.openxmlformats.org/drawingml/2006/main" noGrp="1"/>
          </p:cNvSpPr>
          <p:nvPr/>
        </p:nvSpPr>
        <p:spPr>
          <a:xfrm xmlns:a="http://schemas.openxmlformats.org/drawingml/2006/main">
            <a:off x="3695700" y="327660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Claim, representation, context, and owner route split into fields.</a:t>
            </a:r>
          </a:p>
        </p:txBody>
      </p:sp>
      <p:sp>
        <p:nvSpPr>
          <p:cNvPr id="15" name="a-output-card">
            <a:extLst xmlns:a="http://schemas.openxmlformats.org/drawingml/2006/main">
              <a:ext uri="{FF2B5EF4-FFF2-40B4-BE49-F238E27FC236}">
                <a16:creationId xmlns:a16="http://schemas.microsoft.com/office/drawing/2014/main" id="{44F9C35B-487F-4BE5-BE89-8F5B8575812E}"/>
              </a:ext>
            </a:extLst>
          </p:cNvPr>
          <p:cNvSpPr>
            <a:spLocks xmlns:a="http://schemas.openxmlformats.org/drawingml/2006/main" noGrp="1"/>
          </p:cNvSpPr>
          <p:nvPr/>
        </p:nvSpPr>
        <p:spPr>
          <a:xfrm xmlns:a="http://schemas.openxmlformats.org/drawingml/2006/main">
            <a:off x="781050" y="4133850"/>
            <a:ext cx="2495550" cy="1181100"/>
          </a:xfrm>
          <a:prstGeom xmlns:a="http://schemas.openxmlformats.org/drawingml/2006/main" prst="roundRect">
            <a:avLst>
              <a:gd name="adj" fmla="val 6452"/>
            </a:avLst>
          </a:prstGeom>
          <a:solidFill xmlns:a="http://schemas.openxmlformats.org/drawingml/2006/main">
            <a:srgbClr val="FFF1D2"/>
          </a:solidFill>
          <a:ln xmlns:a="http://schemas.openxmlformats.org/drawingml/2006/main" w="9525">
            <a:solidFill>
              <a:srgbClr val="9A6700"/>
            </a:solidFill>
            <a:prstDash val="solid"/>
          </a:ln>
        </p:spPr>
      </p:sp>
      <p:sp>
        <p:nvSpPr>
          <p:cNvPr id="16" name="a-output-accent">
            <a:extLst xmlns:a="http://schemas.openxmlformats.org/drawingml/2006/main">
              <a:ext uri="{FF2B5EF4-FFF2-40B4-BE49-F238E27FC236}">
                <a16:creationId xmlns:a16="http://schemas.microsoft.com/office/drawing/2014/main" id="{D3EC675F-4203-4BE9-AFC6-B9A8636FB685}"/>
              </a:ext>
            </a:extLst>
          </p:cNvPr>
          <p:cNvSpPr>
            <a:spLocks xmlns:a="http://schemas.openxmlformats.org/drawingml/2006/main" noGrp="1"/>
          </p:cNvSpPr>
          <p:nvPr/>
        </p:nvSpPr>
        <p:spPr>
          <a:xfrm xmlns:a="http://schemas.openxmlformats.org/drawingml/2006/main">
            <a:off x="781050" y="4133850"/>
            <a:ext cx="2495550" cy="76200"/>
          </a:xfrm>
          <a:prstGeom xmlns:a="http://schemas.openxmlformats.org/drawingml/2006/main" prst="rect">
            <a:avLst/>
          </a:prstGeom>
          <a:solidFill xmlns:a="http://schemas.openxmlformats.org/drawingml/2006/main">
            <a:srgbClr val="9A6700"/>
          </a:solidFill>
          <a:ln xmlns:a="http://schemas.openxmlformats.org/drawingml/2006/main" w="0">
            <a:solidFill>
              <a:srgbClr val="9A6700"/>
            </a:solidFill>
            <a:prstDash val="solid"/>
          </a:ln>
        </p:spPr>
      </p:sp>
      <p:sp>
        <p:nvSpPr>
          <p:cNvPr id="17" name="a-output-title">
            <a:extLst xmlns:a="http://schemas.openxmlformats.org/drawingml/2006/main">
              <a:ext uri="{FF2B5EF4-FFF2-40B4-BE49-F238E27FC236}">
                <a16:creationId xmlns:a16="http://schemas.microsoft.com/office/drawing/2014/main" id="{7488A82C-62DB-4AA0-8040-5A72622C4CC6}"/>
              </a:ext>
            </a:extLst>
          </p:cNvPr>
          <p:cNvSpPr>
            <a:spLocks xmlns:a="http://schemas.openxmlformats.org/drawingml/2006/main" noGrp="1"/>
          </p:cNvSpPr>
          <p:nvPr/>
        </p:nvSpPr>
        <p:spPr>
          <a:xfrm xmlns:a="http://schemas.openxmlformats.org/drawingml/2006/main">
            <a:off x="952500" y="43243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9A6700"/>
                </a:solidFill>
              </a:defRPr>
            </a:pPr>
            <a:r>
              <a:rPr sz="1275" b="1">
                <a:solidFill>
                  <a:srgbClr val="9A6700"/>
                </a:solidFill>
              </a:rPr>
              <a:t>3. Review output</a:t>
            </a:r>
          </a:p>
        </p:txBody>
      </p:sp>
      <p:sp>
        <p:nvSpPr>
          <p:cNvPr id="18" name="a-output-body">
            <a:extLst xmlns:a="http://schemas.openxmlformats.org/drawingml/2006/main">
              <a:ext uri="{FF2B5EF4-FFF2-40B4-BE49-F238E27FC236}">
                <a16:creationId xmlns:a16="http://schemas.microsoft.com/office/drawing/2014/main" id="{A12E0EEF-CEF9-4A30-910E-E16773365C2B}"/>
              </a:ext>
            </a:extLst>
          </p:cNvPr>
          <p:cNvSpPr>
            <a:spLocks xmlns:a="http://schemas.openxmlformats.org/drawingml/2006/main" noGrp="1"/>
          </p:cNvSpPr>
          <p:nvPr/>
        </p:nvSpPr>
        <p:spPr>
          <a:xfrm xmlns:a="http://schemas.openxmlformats.org/drawingml/2006/main">
            <a:off x="952500" y="468630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Known, missing, and decision-owner fields become inspectable.</a:t>
            </a:r>
          </a:p>
        </p:txBody>
      </p:sp>
      <p:sp>
        <p:nvSpPr>
          <p:cNvPr id="19" name="a-boundary-card">
            <a:extLst xmlns:a="http://schemas.openxmlformats.org/drawingml/2006/main">
              <a:ext uri="{FF2B5EF4-FFF2-40B4-BE49-F238E27FC236}">
                <a16:creationId xmlns:a16="http://schemas.microsoft.com/office/drawing/2014/main" id="{A9B20C3E-3706-4A86-A46B-4EE2BCBC05B0}"/>
              </a:ext>
            </a:extLst>
          </p:cNvPr>
          <p:cNvSpPr>
            <a:spLocks xmlns:a="http://schemas.openxmlformats.org/drawingml/2006/main" noGrp="1"/>
          </p:cNvSpPr>
          <p:nvPr/>
        </p:nvSpPr>
        <p:spPr>
          <a:xfrm xmlns:a="http://schemas.openxmlformats.org/drawingml/2006/main">
            <a:off x="3524250" y="4133850"/>
            <a:ext cx="2495550" cy="1181100"/>
          </a:xfrm>
          <a:prstGeom xmlns:a="http://schemas.openxmlformats.org/drawingml/2006/main" prst="roundRect">
            <a:avLst>
              <a:gd name="adj" fmla="val 6452"/>
            </a:avLst>
          </a:prstGeom>
          <a:solidFill xmlns:a="http://schemas.openxmlformats.org/drawingml/2006/main">
            <a:srgbClr val="FFF1D2"/>
          </a:solidFill>
          <a:ln xmlns:a="http://schemas.openxmlformats.org/drawingml/2006/main" w="9525">
            <a:solidFill>
              <a:srgbClr val="9A6700"/>
            </a:solidFill>
            <a:prstDash val="solid"/>
          </a:ln>
        </p:spPr>
      </p:sp>
      <p:sp>
        <p:nvSpPr>
          <p:cNvPr id="20" name="a-boundary-accent">
            <a:extLst xmlns:a="http://schemas.openxmlformats.org/drawingml/2006/main">
              <a:ext uri="{FF2B5EF4-FFF2-40B4-BE49-F238E27FC236}">
                <a16:creationId xmlns:a16="http://schemas.microsoft.com/office/drawing/2014/main" id="{B8A898A1-5A49-4ABF-8516-464DD4AA15CA}"/>
              </a:ext>
            </a:extLst>
          </p:cNvPr>
          <p:cNvSpPr>
            <a:spLocks xmlns:a="http://schemas.openxmlformats.org/drawingml/2006/main" noGrp="1"/>
          </p:cNvSpPr>
          <p:nvPr/>
        </p:nvSpPr>
        <p:spPr>
          <a:xfrm xmlns:a="http://schemas.openxmlformats.org/drawingml/2006/main">
            <a:off x="3524250" y="4133850"/>
            <a:ext cx="2495550" cy="76200"/>
          </a:xfrm>
          <a:prstGeom xmlns:a="http://schemas.openxmlformats.org/drawingml/2006/main" prst="rect">
            <a:avLst/>
          </a:prstGeom>
          <a:solidFill xmlns:a="http://schemas.openxmlformats.org/drawingml/2006/main">
            <a:srgbClr val="9A6700"/>
          </a:solidFill>
          <a:ln xmlns:a="http://schemas.openxmlformats.org/drawingml/2006/main" w="0">
            <a:solidFill>
              <a:srgbClr val="9A6700"/>
            </a:solidFill>
            <a:prstDash val="solid"/>
          </a:ln>
        </p:spPr>
      </p:sp>
      <p:sp>
        <p:nvSpPr>
          <p:cNvPr id="21" name="a-boundary-title">
            <a:extLst xmlns:a="http://schemas.openxmlformats.org/drawingml/2006/main">
              <a:ext uri="{FF2B5EF4-FFF2-40B4-BE49-F238E27FC236}">
                <a16:creationId xmlns:a16="http://schemas.microsoft.com/office/drawing/2014/main" id="{08BFAF97-0EF7-44E4-B9B5-BFA2D15EA5F1}"/>
              </a:ext>
            </a:extLst>
          </p:cNvPr>
          <p:cNvSpPr>
            <a:spLocks xmlns:a="http://schemas.openxmlformats.org/drawingml/2006/main" noGrp="1"/>
          </p:cNvSpPr>
          <p:nvPr/>
        </p:nvSpPr>
        <p:spPr>
          <a:xfrm xmlns:a="http://schemas.openxmlformats.org/drawingml/2006/main">
            <a:off x="3695700" y="43243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9A6700"/>
                </a:solidFill>
              </a:defRPr>
            </a:pPr>
            <a:r>
              <a:rPr sz="1275" b="1">
                <a:solidFill>
                  <a:srgbClr val="9A6700"/>
                </a:solidFill>
              </a:rPr>
              <a:t>Boundary</a:t>
            </a:r>
          </a:p>
        </p:txBody>
      </p:sp>
      <p:sp>
        <p:nvSpPr>
          <p:cNvPr id="22" name="a-boundary-body">
            <a:extLst xmlns:a="http://schemas.openxmlformats.org/drawingml/2006/main">
              <a:ext uri="{FF2B5EF4-FFF2-40B4-BE49-F238E27FC236}">
                <a16:creationId xmlns:a16="http://schemas.microsoft.com/office/drawing/2014/main" id="{3D6FD90F-FEFE-45E0-9111-E91A7FF6AA89}"/>
              </a:ext>
            </a:extLst>
          </p:cNvPr>
          <p:cNvSpPr>
            <a:spLocks xmlns:a="http://schemas.openxmlformats.org/drawingml/2006/main" noGrp="1"/>
          </p:cNvSpPr>
          <p:nvPr/>
        </p:nvSpPr>
        <p:spPr>
          <a:xfrm xmlns:a="http://schemas.openxmlformats.org/drawingml/2006/main">
            <a:off x="3695700" y="468630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Workflow discussion only. No rights, platform, release, or relationship claim.</a:t>
            </a:r>
          </a:p>
        </p:txBody>
      </p:sp>
      <p:sp>
        <p:nvSpPr>
          <p:cNvPr id="23" name="proya-card-frame">
            <a:extLst xmlns:a="http://schemas.openxmlformats.org/drawingml/2006/main">
              <a:ext uri="{FF2B5EF4-FFF2-40B4-BE49-F238E27FC236}">
                <a16:creationId xmlns:a16="http://schemas.microsoft.com/office/drawing/2014/main" id="{9DE691CB-3AC2-4732-A35F-C30FC64DEF58}"/>
              </a:ext>
            </a:extLst>
          </p:cNvPr>
          <p:cNvSpPr>
            <a:spLocks xmlns:a="http://schemas.openxmlformats.org/drawingml/2006/main" noGrp="1"/>
          </p:cNvSpPr>
          <p:nvPr/>
        </p:nvSpPr>
        <p:spPr>
          <a:xfrm xmlns:a="http://schemas.openxmlformats.org/drawingml/2006/main">
            <a:off x="6286500" y="2400300"/>
            <a:ext cx="51435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C8D0C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4ddac49792941b6"/>
          <a:stretch xmlns:a="http://schemas.openxmlformats.org/drawingml/2006/main"/>
        </p:blipFill>
        <p:spPr>
          <a:xfrm xmlns:a="http://schemas.openxmlformats.org/drawingml/2006/main">
            <a:off x="6496050" y="2611755"/>
            <a:ext cx="4724400" cy="2834640"/>
          </a:xfrm>
          <a:prstGeom xmlns:a="http://schemas.openxmlformats.org/drawingml/2006/main" prst="roundRect">
            <a:avLst>
              <a:gd name="adj" fmla="val 2685"/>
            </a:avLst>
          </a:prstGeom>
        </p:spPr>
      </p:pic>
      <p:sp>
        <p:nvSpPr>
          <p:cNvPr id="25" name="boundary-footer">
            <a:extLst xmlns:a="http://schemas.openxmlformats.org/drawingml/2006/main">
              <a:ext uri="{FF2B5EF4-FFF2-40B4-BE49-F238E27FC236}">
                <a16:creationId xmlns:a16="http://schemas.microsoft.com/office/drawing/2014/main" id="{0B15F7EE-E0E0-46A5-8F80-0AE4660EA341}"/>
              </a:ext>
            </a:extLst>
          </p:cNvPr>
          <p:cNvSpPr>
            <a:spLocks xmlns:a="http://schemas.openxmlformats.org/drawingml/2006/main" noGrp="1"/>
          </p:cNvSpPr>
          <p:nvPr/>
        </p:nvSpPr>
        <p:spPr>
          <a:xfrm xmlns:a="http://schemas.openxmlformats.org/drawingml/2006/main">
            <a:off x="685800" y="6191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2716B"/>
                </a:solidFill>
              </a:defRPr>
            </a:pPr>
            <a:r>
              <a:rPr sz="825">
                <a:solidFill>
                  <a:srgbClr val="62716B"/>
                </a:solidFill>
              </a:rPr>
              <a:t>Named companies are public examples only. They do not imply a VULCA customer, partner, endorsement, authorization source, or finding.</a:t>
            </a:r>
          </a:p>
        </p:txBody>
      </p:sp>
    </p:spTree>
    <p:extLst>
      <p:ext uri="{BB962C8B-B14F-4D97-AF65-F5344CB8AC3E}">
        <p14:creationId xmlns:p14="http://schemas.microsoft.com/office/powerpoint/2010/main" val="1963655494"/>
      </p:ext>
    </p:extLst>
  </p:cSld>
</p:sld>
</file>

<file path=ppt/slides/slide5.xml><?xml version="1.0" encoding="utf-8"?>
<p:sld xmlns:p="http://schemas.openxmlformats.org/presentationml/2006/main">
  <p:cSld>
    <p:bg>
      <p:bgPr>
        <a:solidFill xmlns:a="http://schemas.openxmlformats.org/drawingml/2006/main">
          <a:srgbClr val="EDF4F0"/>
        </a:solidFill>
      </p:bgPr>
    </p:bg>
    <p:spTree>
      <p:nvGrpSpPr>
        <p:cNvPr id="1" name=""/>
        <p:cNvGrpSpPr/>
        <p:nvPr/>
      </p:nvGrpSpPr>
      <p:grpSpPr>
        <a:xfrm xmlns:a="http://schemas.openxmlformats.org/drawingml/2006/main"/>
      </p:grpSpPr>
      <p:sp>
        <p:nvSpPr>
          <p:cNvPr id="1" name="paper">
            <a:extLst xmlns:a="http://schemas.openxmlformats.org/drawingml/2006/main">
              <a:ext uri="{FF2B5EF4-FFF2-40B4-BE49-F238E27FC236}">
                <a16:creationId xmlns:a16="http://schemas.microsoft.com/office/drawing/2014/main" id="{65D9D1F3-472A-46A7-BE01-2E4D4D343DB5}"/>
              </a:ext>
            </a:extLst>
          </p:cNvPr>
          <p:cNvSpPr>
            <a:spLocks xmlns:a="http://schemas.openxmlformats.org/drawingml/2006/main" noGrp="1"/>
          </p:cNvSpPr>
          <p:nvPr/>
        </p:nvSpPr>
        <p:spPr>
          <a:xfrm xmlns:a="http://schemas.openxmlformats.org/drawingml/2006/main">
            <a:off x="342900" y="285750"/>
            <a:ext cx="11506200" cy="6286500"/>
          </a:xfrm>
          <a:prstGeom xmlns:a="http://schemas.openxmlformats.org/drawingml/2006/main" prst="roundRect">
            <a:avLst>
              <a:gd name="adj" fmla="val 1212"/>
            </a:avLst>
          </a:prstGeom>
          <a:solidFill xmlns:a="http://schemas.openxmlformats.org/drawingml/2006/main">
            <a:srgbClr val="FBFCFA"/>
          </a:solidFill>
          <a:ln xmlns:a="http://schemas.openxmlformats.org/drawingml/2006/main" w="9525">
            <a:solidFill>
              <a:srgbClr val="FBFCFA"/>
            </a:solidFill>
            <a:prstDash val="solid"/>
          </a:ln>
        </p:spPr>
      </p:sp>
      <p:sp>
        <p:nvSpPr>
          <p:cNvPr id="2" name="top-rule">
            <a:extLst xmlns:a="http://schemas.openxmlformats.org/drawingml/2006/main">
              <a:ext uri="{FF2B5EF4-FFF2-40B4-BE49-F238E27FC236}">
                <a16:creationId xmlns:a16="http://schemas.microsoft.com/office/drawing/2014/main" id="{EA7C55ED-F6AC-4F73-8DAC-9FE2A34CED18}"/>
              </a:ext>
            </a:extLst>
          </p:cNvPr>
          <p:cNvSpPr>
            <a:spLocks xmlns:a="http://schemas.openxmlformats.org/drawingml/2006/main" noGrp="1"/>
          </p:cNvSpPr>
          <p:nvPr/>
        </p:nvSpPr>
        <p:spPr>
          <a:xfrm xmlns:a="http://schemas.openxmlformats.org/drawingml/2006/main">
            <a:off x="342900" y="571500"/>
            <a:ext cx="11506200" cy="9525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3" name="kicker">
            <a:extLst xmlns:a="http://schemas.openxmlformats.org/drawingml/2006/main">
              <a:ext uri="{FF2B5EF4-FFF2-40B4-BE49-F238E27FC236}">
                <a16:creationId xmlns:a16="http://schemas.microsoft.com/office/drawing/2014/main" id="{E655E6E5-E8B8-41BF-A4C3-0593AE176627}"/>
              </a:ext>
            </a:extLst>
          </p:cNvPr>
          <p:cNvSpPr>
            <a:spLocks xmlns:a="http://schemas.openxmlformats.org/drawingml/2006/main" noGrp="1"/>
          </p:cNvSpPr>
          <p:nvPr/>
        </p:nvSpPr>
        <p:spPr>
          <a:xfrm xmlns:a="http://schemas.openxmlformats.org/drawingml/2006/main">
            <a:off x="685800" y="914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VULCA SOLUTION PACK V1</a:t>
            </a:r>
          </a:p>
        </p:txBody>
      </p:sp>
      <p:sp>
        <p:nvSpPr>
          <p:cNvPr id="4" name="page-marker">
            <a:extLst xmlns:a="http://schemas.openxmlformats.org/drawingml/2006/main">
              <a:ext uri="{FF2B5EF4-FFF2-40B4-BE49-F238E27FC236}">
                <a16:creationId xmlns:a16="http://schemas.microsoft.com/office/drawing/2014/main" id="{923A9D53-3B8E-42A1-B7D6-6AB6CBB4F338}"/>
              </a:ext>
            </a:extLst>
          </p:cNvPr>
          <p:cNvSpPr>
            <a:spLocks xmlns:a="http://schemas.openxmlformats.org/drawingml/2006/main" noGrp="1"/>
          </p:cNvSpPr>
          <p:nvPr/>
        </p:nvSpPr>
        <p:spPr>
          <a:xfrm xmlns:a="http://schemas.openxmlformats.org/drawingml/2006/main">
            <a:off x="809625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a:solidFill>
                  <a:srgbClr val="62716B"/>
                </a:solidFill>
              </a:defRPr>
            </a:pPr>
            <a:r>
              <a:rPr sz="1200">
                <a:solidFill>
                  <a:srgbClr val="62716B"/>
                </a:solidFill>
              </a:rPr>
              <a:t>Public example sample / Page 5</a:t>
            </a:r>
          </a:p>
        </p:txBody>
      </p:sp>
      <p:sp>
        <p:nvSpPr>
          <p:cNvPr id="5" name="title">
            <a:extLst xmlns:a="http://schemas.openxmlformats.org/drawingml/2006/main">
              <a:ext uri="{FF2B5EF4-FFF2-40B4-BE49-F238E27FC236}">
                <a16:creationId xmlns:a16="http://schemas.microsoft.com/office/drawing/2014/main" id="{A732DA47-958D-41F5-9178-BB9CC0082609}"/>
              </a:ext>
            </a:extLst>
          </p:cNvPr>
          <p:cNvSpPr>
            <a:spLocks xmlns:a="http://schemas.openxmlformats.org/drawingml/2006/main" noGrp="1"/>
          </p:cNvSpPr>
          <p:nvPr/>
        </p:nvSpPr>
        <p:spPr>
          <a:xfrm xmlns:a="http://schemas.openxmlformats.org/drawingml/2006/main">
            <a:off x="685800" y="12573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6211D"/>
                </a:solidFill>
              </a:defRPr>
            </a:pPr>
            <a:r>
              <a:rPr sz="3000" b="1">
                <a:solidFill>
                  <a:srgbClr val="16211D"/>
                </a:solidFill>
              </a:rPr>
              <a:t>Supporting Proof B: AI Publishability Context</a:t>
            </a:r>
          </a:p>
        </p:txBody>
      </p:sp>
      <p:sp>
        <p:nvSpPr>
          <p:cNvPr id="6" name="lane-b-summary">
            <a:extLst xmlns:a="http://schemas.openxmlformats.org/drawingml/2006/main">
              <a:ext uri="{FF2B5EF4-FFF2-40B4-BE49-F238E27FC236}">
                <a16:creationId xmlns:a16="http://schemas.microsoft.com/office/drawing/2014/main" id="{286A3C74-E168-4653-A46D-5EC44161EB42}"/>
              </a:ext>
            </a:extLst>
          </p:cNvPr>
          <p:cNvSpPr>
            <a:spLocks xmlns:a="http://schemas.openxmlformats.org/drawingml/2006/main" noGrp="1"/>
          </p:cNvSpPr>
          <p:nvPr/>
        </p:nvSpPr>
        <p:spPr>
          <a:xfrm xmlns:a="http://schemas.openxmlformats.org/drawingml/2006/main">
            <a:off x="685800" y="20002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62716B"/>
                </a:solidFill>
              </a:defRPr>
            </a:pPr>
            <a:r>
              <a:rPr sz="1350">
                <a:solidFill>
                  <a:srgbClr val="62716B"/>
                </a:solidFill>
              </a:rPr>
              <a:t>Generated media should not be reviewed as a file alone. The packet needs source or reference context, model or workflow context, output state, label posture, and owner route.</a:t>
            </a:r>
          </a:p>
        </p:txBody>
      </p:sp>
      <p:sp>
        <p:nvSpPr>
          <p:cNvPr id="7" name="b-records-card">
            <a:extLst xmlns:a="http://schemas.openxmlformats.org/drawingml/2006/main">
              <a:ext uri="{FF2B5EF4-FFF2-40B4-BE49-F238E27FC236}">
                <a16:creationId xmlns:a16="http://schemas.microsoft.com/office/drawing/2014/main" id="{C6E63452-DB70-476F-86EC-8080D229B423}"/>
              </a:ext>
            </a:extLst>
          </p:cNvPr>
          <p:cNvSpPr>
            <a:spLocks xmlns:a="http://schemas.openxmlformats.org/drawingml/2006/main" noGrp="1"/>
          </p:cNvSpPr>
          <p:nvPr/>
        </p:nvSpPr>
        <p:spPr>
          <a:xfrm xmlns:a="http://schemas.openxmlformats.org/drawingml/2006/main">
            <a:off x="781050" y="2781300"/>
            <a:ext cx="2495550" cy="1162050"/>
          </a:xfrm>
          <a:prstGeom xmlns:a="http://schemas.openxmlformats.org/drawingml/2006/main" prst="roundRect">
            <a:avLst>
              <a:gd name="adj" fmla="val 6557"/>
            </a:avLst>
          </a:prstGeom>
          <a:solidFill xmlns:a="http://schemas.openxmlformats.org/drawingml/2006/main">
            <a:srgbClr val="E4F4F8"/>
          </a:solidFill>
          <a:ln xmlns:a="http://schemas.openxmlformats.org/drawingml/2006/main" w="9525">
            <a:solidFill>
              <a:srgbClr val="0D6F91"/>
            </a:solidFill>
            <a:prstDash val="solid"/>
          </a:ln>
        </p:spPr>
      </p:sp>
      <p:sp>
        <p:nvSpPr>
          <p:cNvPr id="8" name="b-records-accent">
            <a:extLst xmlns:a="http://schemas.openxmlformats.org/drawingml/2006/main">
              <a:ext uri="{FF2B5EF4-FFF2-40B4-BE49-F238E27FC236}">
                <a16:creationId xmlns:a16="http://schemas.microsoft.com/office/drawing/2014/main" id="{3D23429D-B870-49A1-B746-552A6D01F334}"/>
              </a:ext>
            </a:extLst>
          </p:cNvPr>
          <p:cNvSpPr>
            <a:spLocks xmlns:a="http://schemas.openxmlformats.org/drawingml/2006/main" noGrp="1"/>
          </p:cNvSpPr>
          <p:nvPr/>
        </p:nvSpPr>
        <p:spPr>
          <a:xfrm xmlns:a="http://schemas.openxmlformats.org/drawingml/2006/main">
            <a:off x="781050" y="2781300"/>
            <a:ext cx="2495550" cy="76200"/>
          </a:xfrm>
          <a:prstGeom xmlns:a="http://schemas.openxmlformats.org/drawingml/2006/main" prst="rect">
            <a:avLst/>
          </a:prstGeom>
          <a:solidFill xmlns:a="http://schemas.openxmlformats.org/drawingml/2006/main">
            <a:srgbClr val="0D6F91"/>
          </a:solidFill>
          <a:ln xmlns:a="http://schemas.openxmlformats.org/drawingml/2006/main" w="0">
            <a:solidFill>
              <a:srgbClr val="0D6F91"/>
            </a:solidFill>
            <a:prstDash val="solid"/>
          </a:ln>
        </p:spPr>
      </p:sp>
      <p:sp>
        <p:nvSpPr>
          <p:cNvPr id="9" name="b-records-title">
            <a:extLst xmlns:a="http://schemas.openxmlformats.org/drawingml/2006/main">
              <a:ext uri="{FF2B5EF4-FFF2-40B4-BE49-F238E27FC236}">
                <a16:creationId xmlns:a16="http://schemas.microsoft.com/office/drawing/2014/main" id="{85DD6505-100E-4B8C-95B2-831B9A35EC83}"/>
              </a:ext>
            </a:extLst>
          </p:cNvPr>
          <p:cNvSpPr>
            <a:spLocks xmlns:a="http://schemas.openxmlformats.org/drawingml/2006/main" noGrp="1"/>
          </p:cNvSpPr>
          <p:nvPr/>
        </p:nvSpPr>
        <p:spPr>
          <a:xfrm xmlns:a="http://schemas.openxmlformats.org/drawingml/2006/main">
            <a:off x="952500" y="29718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D6F91"/>
                </a:solidFill>
              </a:defRPr>
            </a:pPr>
            <a:r>
              <a:rPr sz="1275" b="1">
                <a:solidFill>
                  <a:srgbClr val="0D6F91"/>
                </a:solidFill>
              </a:rPr>
              <a:t>1. Public records</a:t>
            </a:r>
          </a:p>
        </p:txBody>
      </p:sp>
      <p:sp>
        <p:nvSpPr>
          <p:cNvPr id="10" name="b-records-body">
            <a:extLst xmlns:a="http://schemas.openxmlformats.org/drawingml/2006/main">
              <a:ext uri="{FF2B5EF4-FFF2-40B4-BE49-F238E27FC236}">
                <a16:creationId xmlns:a16="http://schemas.microsoft.com/office/drawing/2014/main" id="{591D94C4-D3B8-4BF6-8160-89F18A6CB188}"/>
              </a:ext>
            </a:extLst>
          </p:cNvPr>
          <p:cNvSpPr>
            <a:spLocks xmlns:a="http://schemas.openxmlformats.org/drawingml/2006/main" noGrp="1"/>
          </p:cNvSpPr>
          <p:nvPr/>
        </p:nvSpPr>
        <p:spPr>
          <a:xfrm xmlns:a="http://schemas.openxmlformats.org/drawingml/2006/main">
            <a:off x="952500" y="33337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Official model, tool, and tutorial context become source records.</a:t>
            </a:r>
          </a:p>
        </p:txBody>
      </p:sp>
      <p:sp>
        <p:nvSpPr>
          <p:cNvPr id="11" name="b-normalized-card">
            <a:extLst xmlns:a="http://schemas.openxmlformats.org/drawingml/2006/main">
              <a:ext uri="{FF2B5EF4-FFF2-40B4-BE49-F238E27FC236}">
                <a16:creationId xmlns:a16="http://schemas.microsoft.com/office/drawing/2014/main" id="{BC1E2F3B-57E1-4E6D-A303-FD6E3CCF0991}"/>
              </a:ext>
            </a:extLst>
          </p:cNvPr>
          <p:cNvSpPr>
            <a:spLocks xmlns:a="http://schemas.openxmlformats.org/drawingml/2006/main" noGrp="1"/>
          </p:cNvSpPr>
          <p:nvPr/>
        </p:nvSpPr>
        <p:spPr>
          <a:xfrm xmlns:a="http://schemas.openxmlformats.org/drawingml/2006/main">
            <a:off x="3524250" y="2781300"/>
            <a:ext cx="2495550" cy="1162050"/>
          </a:xfrm>
          <a:prstGeom xmlns:a="http://schemas.openxmlformats.org/drawingml/2006/main" prst="roundRect">
            <a:avLst>
              <a:gd name="adj" fmla="val 6557"/>
            </a:avLst>
          </a:prstGeom>
          <a:solidFill xmlns:a="http://schemas.openxmlformats.org/drawingml/2006/main">
            <a:srgbClr val="DFF1EC"/>
          </a:solidFill>
          <a:ln xmlns:a="http://schemas.openxmlformats.org/drawingml/2006/main" w="9525">
            <a:solidFill>
              <a:srgbClr val="007F73"/>
            </a:solidFill>
            <a:prstDash val="solid"/>
          </a:ln>
        </p:spPr>
      </p:sp>
      <p:sp>
        <p:nvSpPr>
          <p:cNvPr id="12" name="b-normalized-accent">
            <a:extLst xmlns:a="http://schemas.openxmlformats.org/drawingml/2006/main">
              <a:ext uri="{FF2B5EF4-FFF2-40B4-BE49-F238E27FC236}">
                <a16:creationId xmlns:a16="http://schemas.microsoft.com/office/drawing/2014/main" id="{B92F36DE-8BC0-47C1-8D8B-A1B2034B19F6}"/>
              </a:ext>
            </a:extLst>
          </p:cNvPr>
          <p:cNvSpPr>
            <a:spLocks xmlns:a="http://schemas.openxmlformats.org/drawingml/2006/main" noGrp="1"/>
          </p:cNvSpPr>
          <p:nvPr/>
        </p:nvSpPr>
        <p:spPr>
          <a:xfrm xmlns:a="http://schemas.openxmlformats.org/drawingml/2006/main">
            <a:off x="3524250" y="2781300"/>
            <a:ext cx="2495550" cy="762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13" name="b-normalized-title">
            <a:extLst xmlns:a="http://schemas.openxmlformats.org/drawingml/2006/main">
              <a:ext uri="{FF2B5EF4-FFF2-40B4-BE49-F238E27FC236}">
                <a16:creationId xmlns:a16="http://schemas.microsoft.com/office/drawing/2014/main" id="{015A7D99-6229-4C82-A5FD-7D5FCC6483BC}"/>
              </a:ext>
            </a:extLst>
          </p:cNvPr>
          <p:cNvSpPr>
            <a:spLocks xmlns:a="http://schemas.openxmlformats.org/drawingml/2006/main" noGrp="1"/>
          </p:cNvSpPr>
          <p:nvPr/>
        </p:nvSpPr>
        <p:spPr>
          <a:xfrm xmlns:a="http://schemas.openxmlformats.org/drawingml/2006/main">
            <a:off x="3695700" y="29718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07F73"/>
                </a:solidFill>
              </a:defRPr>
            </a:pPr>
            <a:r>
              <a:rPr sz="1275" b="1">
                <a:solidFill>
                  <a:srgbClr val="007F73"/>
                </a:solidFill>
              </a:rPr>
              <a:t>2. Normalized fields</a:t>
            </a:r>
          </a:p>
        </p:txBody>
      </p:sp>
      <p:sp>
        <p:nvSpPr>
          <p:cNvPr id="14" name="b-normalized-body">
            <a:extLst xmlns:a="http://schemas.openxmlformats.org/drawingml/2006/main">
              <a:ext uri="{FF2B5EF4-FFF2-40B4-BE49-F238E27FC236}">
                <a16:creationId xmlns:a16="http://schemas.microsoft.com/office/drawing/2014/main" id="{8A201551-1205-4BD6-9DE2-B6BCB8B227EE}"/>
              </a:ext>
            </a:extLst>
          </p:cNvPr>
          <p:cNvSpPr>
            <a:spLocks xmlns:a="http://schemas.openxmlformats.org/drawingml/2006/main" noGrp="1"/>
          </p:cNvSpPr>
          <p:nvPr/>
        </p:nvSpPr>
        <p:spPr>
          <a:xfrm xmlns:a="http://schemas.openxmlformats.org/drawingml/2006/main">
            <a:off x="3695700" y="33337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Model context, input reference, output state, label posture, owner.</a:t>
            </a:r>
          </a:p>
        </p:txBody>
      </p:sp>
      <p:sp>
        <p:nvSpPr>
          <p:cNvPr id="15" name="b-packet-card">
            <a:extLst xmlns:a="http://schemas.openxmlformats.org/drawingml/2006/main">
              <a:ext uri="{FF2B5EF4-FFF2-40B4-BE49-F238E27FC236}">
                <a16:creationId xmlns:a16="http://schemas.microsoft.com/office/drawing/2014/main" id="{1D9C726B-5785-48C0-880E-7B62B0D2457D}"/>
              </a:ext>
            </a:extLst>
          </p:cNvPr>
          <p:cNvSpPr>
            <a:spLocks xmlns:a="http://schemas.openxmlformats.org/drawingml/2006/main" noGrp="1"/>
          </p:cNvSpPr>
          <p:nvPr/>
        </p:nvSpPr>
        <p:spPr>
          <a:xfrm xmlns:a="http://schemas.openxmlformats.org/drawingml/2006/main">
            <a:off x="781050" y="4095750"/>
            <a:ext cx="2495550" cy="1257300"/>
          </a:xfrm>
          <a:prstGeom xmlns:a="http://schemas.openxmlformats.org/drawingml/2006/main" prst="roundRect">
            <a:avLst>
              <a:gd name="adj" fmla="val 6061"/>
            </a:avLst>
          </a:prstGeom>
          <a:solidFill xmlns:a="http://schemas.openxmlformats.org/drawingml/2006/main">
            <a:srgbClr val="FFF1D2"/>
          </a:solidFill>
          <a:ln xmlns:a="http://schemas.openxmlformats.org/drawingml/2006/main" w="9525">
            <a:solidFill>
              <a:srgbClr val="9A6700"/>
            </a:solidFill>
            <a:prstDash val="solid"/>
          </a:ln>
        </p:spPr>
      </p:sp>
      <p:sp>
        <p:nvSpPr>
          <p:cNvPr id="16" name="b-packet-accent">
            <a:extLst xmlns:a="http://schemas.openxmlformats.org/drawingml/2006/main">
              <a:ext uri="{FF2B5EF4-FFF2-40B4-BE49-F238E27FC236}">
                <a16:creationId xmlns:a16="http://schemas.microsoft.com/office/drawing/2014/main" id="{CAD65714-DB25-4CA2-9792-5318414E11E8}"/>
              </a:ext>
            </a:extLst>
          </p:cNvPr>
          <p:cNvSpPr>
            <a:spLocks xmlns:a="http://schemas.openxmlformats.org/drawingml/2006/main" noGrp="1"/>
          </p:cNvSpPr>
          <p:nvPr/>
        </p:nvSpPr>
        <p:spPr>
          <a:xfrm xmlns:a="http://schemas.openxmlformats.org/drawingml/2006/main">
            <a:off x="781050" y="4095750"/>
            <a:ext cx="2495550" cy="76200"/>
          </a:xfrm>
          <a:prstGeom xmlns:a="http://schemas.openxmlformats.org/drawingml/2006/main" prst="rect">
            <a:avLst/>
          </a:prstGeom>
          <a:solidFill xmlns:a="http://schemas.openxmlformats.org/drawingml/2006/main">
            <a:srgbClr val="9A6700"/>
          </a:solidFill>
          <a:ln xmlns:a="http://schemas.openxmlformats.org/drawingml/2006/main" w="0">
            <a:solidFill>
              <a:srgbClr val="9A6700"/>
            </a:solidFill>
            <a:prstDash val="solid"/>
          </a:ln>
        </p:spPr>
      </p:sp>
      <p:sp>
        <p:nvSpPr>
          <p:cNvPr id="17" name="b-packet-title">
            <a:extLst xmlns:a="http://schemas.openxmlformats.org/drawingml/2006/main">
              <a:ext uri="{FF2B5EF4-FFF2-40B4-BE49-F238E27FC236}">
                <a16:creationId xmlns:a16="http://schemas.microsoft.com/office/drawing/2014/main" id="{CD49568A-B5F0-4679-A657-B6B70A4A6804}"/>
              </a:ext>
            </a:extLst>
          </p:cNvPr>
          <p:cNvSpPr>
            <a:spLocks xmlns:a="http://schemas.openxmlformats.org/drawingml/2006/main" noGrp="1"/>
          </p:cNvSpPr>
          <p:nvPr/>
        </p:nvSpPr>
        <p:spPr>
          <a:xfrm xmlns:a="http://schemas.openxmlformats.org/drawingml/2006/main">
            <a:off x="952500" y="4286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9A6700"/>
                </a:solidFill>
              </a:defRPr>
            </a:pPr>
            <a:r>
              <a:rPr sz="1275" b="1">
                <a:solidFill>
                  <a:srgbClr val="9A6700"/>
                </a:solidFill>
              </a:rPr>
              <a:t>3. Review packet</a:t>
            </a:r>
          </a:p>
        </p:txBody>
      </p:sp>
      <p:sp>
        <p:nvSpPr>
          <p:cNvPr id="18" name="b-packet-body">
            <a:extLst xmlns:a="http://schemas.openxmlformats.org/drawingml/2006/main">
              <a:ext uri="{FF2B5EF4-FFF2-40B4-BE49-F238E27FC236}">
                <a16:creationId xmlns:a16="http://schemas.microsoft.com/office/drawing/2014/main" id="{064FBEE8-A64A-4E7E-BACB-055EE1A9F372}"/>
              </a:ext>
            </a:extLst>
          </p:cNvPr>
          <p:cNvSpPr>
            <a:spLocks xmlns:a="http://schemas.openxmlformats.org/drawingml/2006/main" noGrp="1"/>
          </p:cNvSpPr>
          <p:nvPr/>
        </p:nvSpPr>
        <p:spPr>
          <a:xfrm xmlns:a="http://schemas.openxmlformats.org/drawingml/2006/main">
            <a:off x="952500" y="46482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Reviewable, missing, source-backed, and not-yet-approved fields.</a:t>
            </a:r>
          </a:p>
        </p:txBody>
      </p:sp>
      <p:sp>
        <p:nvSpPr>
          <p:cNvPr id="19" name="b-boundary-card">
            <a:extLst xmlns:a="http://schemas.openxmlformats.org/drawingml/2006/main">
              <a:ext uri="{FF2B5EF4-FFF2-40B4-BE49-F238E27FC236}">
                <a16:creationId xmlns:a16="http://schemas.microsoft.com/office/drawing/2014/main" id="{2A24A579-7158-45F2-8C70-6DE370A5506C}"/>
              </a:ext>
            </a:extLst>
          </p:cNvPr>
          <p:cNvSpPr>
            <a:spLocks xmlns:a="http://schemas.openxmlformats.org/drawingml/2006/main" noGrp="1"/>
          </p:cNvSpPr>
          <p:nvPr/>
        </p:nvSpPr>
        <p:spPr>
          <a:xfrm xmlns:a="http://schemas.openxmlformats.org/drawingml/2006/main">
            <a:off x="3524250" y="4095750"/>
            <a:ext cx="2495550" cy="1257300"/>
          </a:xfrm>
          <a:prstGeom xmlns:a="http://schemas.openxmlformats.org/drawingml/2006/main" prst="roundRect">
            <a:avLst>
              <a:gd name="adj" fmla="val 6061"/>
            </a:avLst>
          </a:prstGeom>
          <a:solidFill xmlns:a="http://schemas.openxmlformats.org/drawingml/2006/main">
            <a:srgbClr val="FFF1D2"/>
          </a:solidFill>
          <a:ln xmlns:a="http://schemas.openxmlformats.org/drawingml/2006/main" w="9525">
            <a:solidFill>
              <a:srgbClr val="9A6700"/>
            </a:solidFill>
            <a:prstDash val="solid"/>
          </a:ln>
        </p:spPr>
      </p:sp>
      <p:sp>
        <p:nvSpPr>
          <p:cNvPr id="20" name="b-boundary-accent">
            <a:extLst xmlns:a="http://schemas.openxmlformats.org/drawingml/2006/main">
              <a:ext uri="{FF2B5EF4-FFF2-40B4-BE49-F238E27FC236}">
                <a16:creationId xmlns:a16="http://schemas.microsoft.com/office/drawing/2014/main" id="{3F568669-F445-47BC-92CC-81CD9F9D576D}"/>
              </a:ext>
            </a:extLst>
          </p:cNvPr>
          <p:cNvSpPr>
            <a:spLocks xmlns:a="http://schemas.openxmlformats.org/drawingml/2006/main" noGrp="1"/>
          </p:cNvSpPr>
          <p:nvPr/>
        </p:nvSpPr>
        <p:spPr>
          <a:xfrm xmlns:a="http://schemas.openxmlformats.org/drawingml/2006/main">
            <a:off x="3524250" y="4095750"/>
            <a:ext cx="2495550" cy="76200"/>
          </a:xfrm>
          <a:prstGeom xmlns:a="http://schemas.openxmlformats.org/drawingml/2006/main" prst="rect">
            <a:avLst/>
          </a:prstGeom>
          <a:solidFill xmlns:a="http://schemas.openxmlformats.org/drawingml/2006/main">
            <a:srgbClr val="9A6700"/>
          </a:solidFill>
          <a:ln xmlns:a="http://schemas.openxmlformats.org/drawingml/2006/main" w="0">
            <a:solidFill>
              <a:srgbClr val="9A6700"/>
            </a:solidFill>
            <a:prstDash val="solid"/>
          </a:ln>
        </p:spPr>
      </p:sp>
      <p:sp>
        <p:nvSpPr>
          <p:cNvPr id="21" name="b-boundary-title">
            <a:extLst xmlns:a="http://schemas.openxmlformats.org/drawingml/2006/main">
              <a:ext uri="{FF2B5EF4-FFF2-40B4-BE49-F238E27FC236}">
                <a16:creationId xmlns:a16="http://schemas.microsoft.com/office/drawing/2014/main" id="{FD5B35A4-EDB7-4E6A-94DD-BF58D43803D3}"/>
              </a:ext>
            </a:extLst>
          </p:cNvPr>
          <p:cNvSpPr>
            <a:spLocks xmlns:a="http://schemas.openxmlformats.org/drawingml/2006/main" noGrp="1"/>
          </p:cNvSpPr>
          <p:nvPr/>
        </p:nvSpPr>
        <p:spPr>
          <a:xfrm xmlns:a="http://schemas.openxmlformats.org/drawingml/2006/main">
            <a:off x="3695700" y="4286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9A6700"/>
                </a:solidFill>
              </a:defRPr>
            </a:pPr>
            <a:r>
              <a:rPr sz="1275" b="1">
                <a:solidFill>
                  <a:srgbClr val="9A6700"/>
                </a:solidFill>
              </a:rPr>
              <a:t>Boundary</a:t>
            </a:r>
          </a:p>
        </p:txBody>
      </p:sp>
      <p:sp>
        <p:nvSpPr>
          <p:cNvPr id="22" name="b-boundary-body">
            <a:extLst xmlns:a="http://schemas.openxmlformats.org/drawingml/2006/main">
              <a:ext uri="{FF2B5EF4-FFF2-40B4-BE49-F238E27FC236}">
                <a16:creationId xmlns:a16="http://schemas.microsoft.com/office/drawing/2014/main" id="{7738A77A-6148-4ECA-A1C5-80BCBF90F4B1}"/>
              </a:ext>
            </a:extLst>
          </p:cNvPr>
          <p:cNvSpPr>
            <a:spLocks xmlns:a="http://schemas.openxmlformats.org/drawingml/2006/main" noGrp="1"/>
          </p:cNvSpPr>
          <p:nvPr/>
        </p:nvSpPr>
        <p:spPr>
          <a:xfrm xmlns:a="http://schemas.openxmlformats.org/drawingml/2006/main">
            <a:off x="3695700" y="46482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No scoring, certification, clearance, approval, or benchmarks.</a:t>
            </a:r>
          </a:p>
        </p:txBody>
      </p:sp>
      <p:sp>
        <p:nvSpPr>
          <p:cNvPr id="23" name="seedream-card-frame">
            <a:extLst xmlns:a="http://schemas.openxmlformats.org/drawingml/2006/main">
              <a:ext uri="{FF2B5EF4-FFF2-40B4-BE49-F238E27FC236}">
                <a16:creationId xmlns:a16="http://schemas.microsoft.com/office/drawing/2014/main" id="{4A6C53F4-7E10-48E7-A624-C907DA3E2799}"/>
              </a:ext>
            </a:extLst>
          </p:cNvPr>
          <p:cNvSpPr>
            <a:spLocks xmlns:a="http://schemas.openxmlformats.org/drawingml/2006/main" noGrp="1"/>
          </p:cNvSpPr>
          <p:nvPr/>
        </p:nvSpPr>
        <p:spPr>
          <a:xfrm xmlns:a="http://schemas.openxmlformats.org/drawingml/2006/main">
            <a:off x="6286500" y="2400300"/>
            <a:ext cx="51435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C8D0C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a1b97dd1d604a89"/>
          <a:stretch xmlns:a="http://schemas.openxmlformats.org/drawingml/2006/main"/>
        </p:blipFill>
        <p:spPr>
          <a:xfrm xmlns:a="http://schemas.openxmlformats.org/drawingml/2006/main">
            <a:off x="6798085" y="2609850"/>
            <a:ext cx="4120331" cy="2838450"/>
          </a:xfrm>
          <a:prstGeom xmlns:a="http://schemas.openxmlformats.org/drawingml/2006/main" prst="roundRect">
            <a:avLst>
              <a:gd name="adj" fmla="val 2685"/>
            </a:avLst>
          </a:prstGeom>
        </p:spPr>
      </p:pic>
      <p:sp>
        <p:nvSpPr>
          <p:cNvPr id="25" name="boundary-footer">
            <a:extLst xmlns:a="http://schemas.openxmlformats.org/drawingml/2006/main">
              <a:ext uri="{FF2B5EF4-FFF2-40B4-BE49-F238E27FC236}">
                <a16:creationId xmlns:a16="http://schemas.microsoft.com/office/drawing/2014/main" id="{A3D61361-628D-4DED-92A3-293D68EA3F25}"/>
              </a:ext>
            </a:extLst>
          </p:cNvPr>
          <p:cNvSpPr>
            <a:spLocks xmlns:a="http://schemas.openxmlformats.org/drawingml/2006/main" noGrp="1"/>
          </p:cNvSpPr>
          <p:nvPr/>
        </p:nvSpPr>
        <p:spPr>
          <a:xfrm xmlns:a="http://schemas.openxmlformats.org/drawingml/2006/main">
            <a:off x="685800" y="6191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2716B"/>
                </a:solidFill>
              </a:defRPr>
            </a:pPr>
            <a:r>
              <a:rPr sz="825">
                <a:solidFill>
                  <a:srgbClr val="62716B"/>
                </a:solidFill>
              </a:rPr>
              <a:t>Named companies are public examples only. They do not imply a VULCA customer, partner, endorsement, authorization source, or finding.</a:t>
            </a:r>
          </a:p>
        </p:txBody>
      </p:sp>
    </p:spTree>
    <p:extLst>
      <p:ext uri="{BB962C8B-B14F-4D97-AF65-F5344CB8AC3E}">
        <p14:creationId xmlns:p14="http://schemas.microsoft.com/office/powerpoint/2010/main" val="1761846012"/>
      </p:ext>
    </p:extLst>
  </p:cSld>
</p:sld>
</file>

<file path=ppt/slides/slide6.xml><?xml version="1.0" encoding="utf-8"?>
<p:sld xmlns:p="http://schemas.openxmlformats.org/presentationml/2006/main">
  <p:cSld>
    <p:bg>
      <p:bgPr>
        <a:solidFill xmlns:a="http://schemas.openxmlformats.org/drawingml/2006/main">
          <a:srgbClr val="EDF4F0"/>
        </a:solidFill>
      </p:bgPr>
    </p:bg>
    <p:spTree>
      <p:nvGrpSpPr>
        <p:cNvPr id="1" name=""/>
        <p:cNvGrpSpPr/>
        <p:nvPr/>
      </p:nvGrpSpPr>
      <p:grpSpPr>
        <a:xfrm xmlns:a="http://schemas.openxmlformats.org/drawingml/2006/main"/>
      </p:grpSpPr>
      <p:sp>
        <p:nvSpPr>
          <p:cNvPr id="1" name="paper">
            <a:extLst xmlns:a="http://schemas.openxmlformats.org/drawingml/2006/main">
              <a:ext uri="{FF2B5EF4-FFF2-40B4-BE49-F238E27FC236}">
                <a16:creationId xmlns:a16="http://schemas.microsoft.com/office/drawing/2014/main" id="{2AD76088-73D7-4324-82D6-22DA7898829A}"/>
              </a:ext>
            </a:extLst>
          </p:cNvPr>
          <p:cNvSpPr>
            <a:spLocks xmlns:a="http://schemas.openxmlformats.org/drawingml/2006/main" noGrp="1"/>
          </p:cNvSpPr>
          <p:nvPr/>
        </p:nvSpPr>
        <p:spPr>
          <a:xfrm xmlns:a="http://schemas.openxmlformats.org/drawingml/2006/main">
            <a:off x="342900" y="285750"/>
            <a:ext cx="11506200" cy="6286500"/>
          </a:xfrm>
          <a:prstGeom xmlns:a="http://schemas.openxmlformats.org/drawingml/2006/main" prst="roundRect">
            <a:avLst>
              <a:gd name="adj" fmla="val 1212"/>
            </a:avLst>
          </a:prstGeom>
          <a:solidFill xmlns:a="http://schemas.openxmlformats.org/drawingml/2006/main">
            <a:srgbClr val="FBFCFA"/>
          </a:solidFill>
          <a:ln xmlns:a="http://schemas.openxmlformats.org/drawingml/2006/main" w="9525">
            <a:solidFill>
              <a:srgbClr val="FBFCFA"/>
            </a:solidFill>
            <a:prstDash val="solid"/>
          </a:ln>
        </p:spPr>
      </p:sp>
      <p:sp>
        <p:nvSpPr>
          <p:cNvPr id="2" name="top-rule">
            <a:extLst xmlns:a="http://schemas.openxmlformats.org/drawingml/2006/main">
              <a:ext uri="{FF2B5EF4-FFF2-40B4-BE49-F238E27FC236}">
                <a16:creationId xmlns:a16="http://schemas.microsoft.com/office/drawing/2014/main" id="{FA155730-4545-4BEF-8518-DC8BF156EED3}"/>
              </a:ext>
            </a:extLst>
          </p:cNvPr>
          <p:cNvSpPr>
            <a:spLocks xmlns:a="http://schemas.openxmlformats.org/drawingml/2006/main" noGrp="1"/>
          </p:cNvSpPr>
          <p:nvPr/>
        </p:nvSpPr>
        <p:spPr>
          <a:xfrm xmlns:a="http://schemas.openxmlformats.org/drawingml/2006/main">
            <a:off x="342900" y="571500"/>
            <a:ext cx="11506200" cy="9525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3" name="kicker">
            <a:extLst xmlns:a="http://schemas.openxmlformats.org/drawingml/2006/main">
              <a:ext uri="{FF2B5EF4-FFF2-40B4-BE49-F238E27FC236}">
                <a16:creationId xmlns:a16="http://schemas.microsoft.com/office/drawing/2014/main" id="{A9455234-1714-4725-B275-33AE08483052}"/>
              </a:ext>
            </a:extLst>
          </p:cNvPr>
          <p:cNvSpPr>
            <a:spLocks xmlns:a="http://schemas.openxmlformats.org/drawingml/2006/main" noGrp="1"/>
          </p:cNvSpPr>
          <p:nvPr/>
        </p:nvSpPr>
        <p:spPr>
          <a:xfrm xmlns:a="http://schemas.openxmlformats.org/drawingml/2006/main">
            <a:off x="685800" y="914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VULCA SOLUTION PACK V1</a:t>
            </a:r>
          </a:p>
        </p:txBody>
      </p:sp>
      <p:sp>
        <p:nvSpPr>
          <p:cNvPr id="4" name="page-marker">
            <a:extLst xmlns:a="http://schemas.openxmlformats.org/drawingml/2006/main">
              <a:ext uri="{FF2B5EF4-FFF2-40B4-BE49-F238E27FC236}">
                <a16:creationId xmlns:a16="http://schemas.microsoft.com/office/drawing/2014/main" id="{79AC2604-A594-4993-A4EE-81E9A87E494F}"/>
              </a:ext>
            </a:extLst>
          </p:cNvPr>
          <p:cNvSpPr>
            <a:spLocks xmlns:a="http://schemas.openxmlformats.org/drawingml/2006/main" noGrp="1"/>
          </p:cNvSpPr>
          <p:nvPr/>
        </p:nvSpPr>
        <p:spPr>
          <a:xfrm xmlns:a="http://schemas.openxmlformats.org/drawingml/2006/main">
            <a:off x="809625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a:solidFill>
                  <a:srgbClr val="62716B"/>
                </a:solidFill>
              </a:defRPr>
            </a:pPr>
            <a:r>
              <a:rPr sz="1200">
                <a:solidFill>
                  <a:srgbClr val="62716B"/>
                </a:solidFill>
              </a:rPr>
              <a:t>Public example sample / Page 6</a:t>
            </a:r>
          </a:p>
        </p:txBody>
      </p:sp>
      <p:sp>
        <p:nvSpPr>
          <p:cNvPr id="5" name="title">
            <a:extLst xmlns:a="http://schemas.openxmlformats.org/drawingml/2006/main">
              <a:ext uri="{FF2B5EF4-FFF2-40B4-BE49-F238E27FC236}">
                <a16:creationId xmlns:a16="http://schemas.microsoft.com/office/drawing/2014/main" id="{791027EC-C43E-4935-A08D-129ED91221D7}"/>
              </a:ext>
            </a:extLst>
          </p:cNvPr>
          <p:cNvSpPr>
            <a:spLocks xmlns:a="http://schemas.openxmlformats.org/drawingml/2006/main" noGrp="1"/>
          </p:cNvSpPr>
          <p:nvPr/>
        </p:nvSpPr>
        <p:spPr>
          <a:xfrm xmlns:a="http://schemas.openxmlformats.org/drawingml/2006/main">
            <a:off x="685800" y="12573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6211D"/>
                </a:solidFill>
              </a:defRPr>
            </a:pPr>
            <a:r>
              <a:rPr sz="3000" b="1">
                <a:solidFill>
                  <a:srgbClr val="16211D"/>
                </a:solidFill>
              </a:rPr>
              <a:t>A Bounded Pilot Shape</a:t>
            </a:r>
          </a:p>
        </p:txBody>
      </p:sp>
      <p:sp>
        <p:nvSpPr>
          <p:cNvPr id="6" name="pilot-summary">
            <a:extLst xmlns:a="http://schemas.openxmlformats.org/drawingml/2006/main">
              <a:ext uri="{FF2B5EF4-FFF2-40B4-BE49-F238E27FC236}">
                <a16:creationId xmlns:a16="http://schemas.microsoft.com/office/drawing/2014/main" id="{F68649A5-3EB5-4E0B-AD2A-21BEDDD3318C}"/>
              </a:ext>
            </a:extLst>
          </p:cNvPr>
          <p:cNvSpPr>
            <a:spLocks xmlns:a="http://schemas.openxmlformats.org/drawingml/2006/main" noGrp="1"/>
          </p:cNvSpPr>
          <p:nvPr/>
        </p:nvSpPr>
        <p:spPr>
          <a:xfrm xmlns:a="http://schemas.openxmlformats.org/drawingml/2006/main">
            <a:off x="685800" y="20383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62716B"/>
                </a:solidFill>
              </a:defRPr>
            </a:pPr>
            <a:r>
              <a:rPr sz="1350">
                <a:solidFill>
                  <a:srgbClr val="62716B"/>
                </a:solidFill>
              </a:rPr>
              <a:t>The first useful step is small: public examples or sanitized assets, one review lane, a short readout, and a clear owner route.</a:t>
            </a:r>
          </a:p>
        </p:txBody>
      </p:sp>
      <p:sp>
        <p:nvSpPr>
          <p:cNvPr id="7" name="pilot-intake-card">
            <a:extLst xmlns:a="http://schemas.openxmlformats.org/drawingml/2006/main">
              <a:ext uri="{FF2B5EF4-FFF2-40B4-BE49-F238E27FC236}">
                <a16:creationId xmlns:a16="http://schemas.microsoft.com/office/drawing/2014/main" id="{91C0F47A-B154-42B4-8AC6-8B3B38601DEB}"/>
              </a:ext>
            </a:extLst>
          </p:cNvPr>
          <p:cNvSpPr>
            <a:spLocks xmlns:a="http://schemas.openxmlformats.org/drawingml/2006/main" noGrp="1"/>
          </p:cNvSpPr>
          <p:nvPr/>
        </p:nvSpPr>
        <p:spPr>
          <a:xfrm xmlns:a="http://schemas.openxmlformats.org/drawingml/2006/main">
            <a:off x="857250" y="2933700"/>
            <a:ext cx="4933950" cy="1123950"/>
          </a:xfrm>
          <a:prstGeom xmlns:a="http://schemas.openxmlformats.org/drawingml/2006/main" prst="roundRect">
            <a:avLst>
              <a:gd name="adj" fmla="val 6780"/>
            </a:avLst>
          </a:prstGeom>
          <a:solidFill xmlns:a="http://schemas.openxmlformats.org/drawingml/2006/main">
            <a:srgbClr val="DFF1EC"/>
          </a:solidFill>
          <a:ln xmlns:a="http://schemas.openxmlformats.org/drawingml/2006/main" w="9525">
            <a:solidFill>
              <a:srgbClr val="007F73"/>
            </a:solidFill>
            <a:prstDash val="solid"/>
          </a:ln>
        </p:spPr>
      </p:sp>
      <p:sp>
        <p:nvSpPr>
          <p:cNvPr id="8" name="pilot-intake-accent">
            <a:extLst xmlns:a="http://schemas.openxmlformats.org/drawingml/2006/main">
              <a:ext uri="{FF2B5EF4-FFF2-40B4-BE49-F238E27FC236}">
                <a16:creationId xmlns:a16="http://schemas.microsoft.com/office/drawing/2014/main" id="{68EC4700-DC1A-4BDA-89BB-CC592E74E5A1}"/>
              </a:ext>
            </a:extLst>
          </p:cNvPr>
          <p:cNvSpPr>
            <a:spLocks xmlns:a="http://schemas.openxmlformats.org/drawingml/2006/main" noGrp="1"/>
          </p:cNvSpPr>
          <p:nvPr/>
        </p:nvSpPr>
        <p:spPr>
          <a:xfrm xmlns:a="http://schemas.openxmlformats.org/drawingml/2006/main">
            <a:off x="857250" y="2933700"/>
            <a:ext cx="4933950" cy="762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9" name="pilot-intake-title">
            <a:extLst xmlns:a="http://schemas.openxmlformats.org/drawingml/2006/main">
              <a:ext uri="{FF2B5EF4-FFF2-40B4-BE49-F238E27FC236}">
                <a16:creationId xmlns:a16="http://schemas.microsoft.com/office/drawing/2014/main" id="{7198BE18-DFA1-4F1A-AA29-DD55322631A5}"/>
              </a:ext>
            </a:extLst>
          </p:cNvPr>
          <p:cNvSpPr>
            <a:spLocks xmlns:a="http://schemas.openxmlformats.org/drawingml/2006/main" noGrp="1"/>
          </p:cNvSpPr>
          <p:nvPr/>
        </p:nvSpPr>
        <p:spPr>
          <a:xfrm xmlns:a="http://schemas.openxmlformats.org/drawingml/2006/main">
            <a:off x="1028700" y="312420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07F73"/>
                </a:solidFill>
              </a:defRPr>
            </a:pPr>
            <a:r>
              <a:rPr sz="1575" b="1">
                <a:solidFill>
                  <a:srgbClr val="007F73"/>
                </a:solidFill>
              </a:rPr>
              <a:t>1. Intake</a:t>
            </a:r>
          </a:p>
        </p:txBody>
      </p:sp>
      <p:sp>
        <p:nvSpPr>
          <p:cNvPr id="10" name="pilot-intake-body">
            <a:extLst xmlns:a="http://schemas.openxmlformats.org/drawingml/2006/main">
              <a:ext uri="{FF2B5EF4-FFF2-40B4-BE49-F238E27FC236}">
                <a16:creationId xmlns:a16="http://schemas.microsoft.com/office/drawing/2014/main" id="{A0C4D748-B696-4A6A-83A8-A0D0F31A85BE}"/>
              </a:ext>
            </a:extLst>
          </p:cNvPr>
          <p:cNvSpPr>
            <a:spLocks xmlns:a="http://schemas.openxmlformats.org/drawingml/2006/main" noGrp="1"/>
          </p:cNvSpPr>
          <p:nvPr/>
        </p:nvSpPr>
        <p:spPr>
          <a:xfrm xmlns:a="http://schemas.openxmlformats.org/drawingml/2006/main">
            <a:off x="1028700" y="3486150"/>
            <a:ext cx="4591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Public example, sanitized asset, product URL, listing, brief, or generated candidate.</a:t>
            </a:r>
          </a:p>
        </p:txBody>
      </p:sp>
      <p:sp>
        <p:nvSpPr>
          <p:cNvPr id="11" name="pilot-read-card">
            <a:extLst xmlns:a="http://schemas.openxmlformats.org/drawingml/2006/main">
              <a:ext uri="{FF2B5EF4-FFF2-40B4-BE49-F238E27FC236}">
                <a16:creationId xmlns:a16="http://schemas.microsoft.com/office/drawing/2014/main" id="{30A9A989-D0DC-426C-B63D-5F9BBD5BD8C1}"/>
              </a:ext>
            </a:extLst>
          </p:cNvPr>
          <p:cNvSpPr>
            <a:spLocks xmlns:a="http://schemas.openxmlformats.org/drawingml/2006/main" noGrp="1"/>
          </p:cNvSpPr>
          <p:nvPr/>
        </p:nvSpPr>
        <p:spPr>
          <a:xfrm xmlns:a="http://schemas.openxmlformats.org/drawingml/2006/main">
            <a:off x="6400800" y="2933700"/>
            <a:ext cx="4933950" cy="1123950"/>
          </a:xfrm>
          <a:prstGeom xmlns:a="http://schemas.openxmlformats.org/drawingml/2006/main" prst="roundRect">
            <a:avLst>
              <a:gd name="adj" fmla="val 6780"/>
            </a:avLst>
          </a:prstGeom>
          <a:solidFill xmlns:a="http://schemas.openxmlformats.org/drawingml/2006/main">
            <a:srgbClr val="DFF1EC"/>
          </a:solidFill>
          <a:ln xmlns:a="http://schemas.openxmlformats.org/drawingml/2006/main" w="9525">
            <a:solidFill>
              <a:srgbClr val="007F73"/>
            </a:solidFill>
            <a:prstDash val="solid"/>
          </a:ln>
        </p:spPr>
      </p:sp>
      <p:sp>
        <p:nvSpPr>
          <p:cNvPr id="12" name="pilot-read-accent">
            <a:extLst xmlns:a="http://schemas.openxmlformats.org/drawingml/2006/main">
              <a:ext uri="{FF2B5EF4-FFF2-40B4-BE49-F238E27FC236}">
                <a16:creationId xmlns:a16="http://schemas.microsoft.com/office/drawing/2014/main" id="{F771EFCE-2552-4F85-90A8-99D31D71686B}"/>
              </a:ext>
            </a:extLst>
          </p:cNvPr>
          <p:cNvSpPr>
            <a:spLocks xmlns:a="http://schemas.openxmlformats.org/drawingml/2006/main" noGrp="1"/>
          </p:cNvSpPr>
          <p:nvPr/>
        </p:nvSpPr>
        <p:spPr>
          <a:xfrm xmlns:a="http://schemas.openxmlformats.org/drawingml/2006/main">
            <a:off x="6400800" y="2933700"/>
            <a:ext cx="4933950" cy="762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13" name="pilot-read-title">
            <a:extLst xmlns:a="http://schemas.openxmlformats.org/drawingml/2006/main">
              <a:ext uri="{FF2B5EF4-FFF2-40B4-BE49-F238E27FC236}">
                <a16:creationId xmlns:a16="http://schemas.microsoft.com/office/drawing/2014/main" id="{32A18CBB-CD7B-4DB0-BBE4-7729566660C4}"/>
              </a:ext>
            </a:extLst>
          </p:cNvPr>
          <p:cNvSpPr>
            <a:spLocks xmlns:a="http://schemas.openxmlformats.org/drawingml/2006/main" noGrp="1"/>
          </p:cNvSpPr>
          <p:nvPr/>
        </p:nvSpPr>
        <p:spPr>
          <a:xfrm xmlns:a="http://schemas.openxmlformats.org/drawingml/2006/main">
            <a:off x="6572250" y="312420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07F73"/>
                </a:solidFill>
              </a:defRPr>
            </a:pPr>
            <a:r>
              <a:rPr sz="1575" b="1">
                <a:solidFill>
                  <a:srgbClr val="007F73"/>
                </a:solidFill>
              </a:rPr>
              <a:t>2. Field Read</a:t>
            </a:r>
          </a:p>
        </p:txBody>
      </p:sp>
      <p:sp>
        <p:nvSpPr>
          <p:cNvPr id="14" name="pilot-read-body">
            <a:extLst xmlns:a="http://schemas.openxmlformats.org/drawingml/2006/main">
              <a:ext uri="{FF2B5EF4-FFF2-40B4-BE49-F238E27FC236}">
                <a16:creationId xmlns:a16="http://schemas.microsoft.com/office/drawing/2014/main" id="{CBDD4EFE-528A-4178-8A34-BE40EFF3B877}"/>
              </a:ext>
            </a:extLst>
          </p:cNvPr>
          <p:cNvSpPr>
            <a:spLocks xmlns:a="http://schemas.openxmlformats.org/drawingml/2006/main" noGrp="1"/>
          </p:cNvSpPr>
          <p:nvPr/>
        </p:nvSpPr>
        <p:spPr>
          <a:xfrm xmlns:a="http://schemas.openxmlformats.org/drawingml/2006/main">
            <a:off x="6572250" y="3486150"/>
            <a:ext cx="4591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Source context, visible claim or output context, review anatomy, output state, and missing fields.</a:t>
            </a:r>
          </a:p>
        </p:txBody>
      </p:sp>
      <p:sp>
        <p:nvSpPr>
          <p:cNvPr id="15" name="pilot-card-card">
            <a:extLst xmlns:a="http://schemas.openxmlformats.org/drawingml/2006/main">
              <a:ext uri="{FF2B5EF4-FFF2-40B4-BE49-F238E27FC236}">
                <a16:creationId xmlns:a16="http://schemas.microsoft.com/office/drawing/2014/main" id="{D43EDF68-A6CE-41B0-B3D9-BDD685D6F7F7}"/>
              </a:ext>
            </a:extLst>
          </p:cNvPr>
          <p:cNvSpPr>
            <a:spLocks xmlns:a="http://schemas.openxmlformats.org/drawingml/2006/main" noGrp="1"/>
          </p:cNvSpPr>
          <p:nvPr/>
        </p:nvSpPr>
        <p:spPr>
          <a:xfrm xmlns:a="http://schemas.openxmlformats.org/drawingml/2006/main">
            <a:off x="857250" y="4400550"/>
            <a:ext cx="4933950" cy="1123950"/>
          </a:xfrm>
          <a:prstGeom xmlns:a="http://schemas.openxmlformats.org/drawingml/2006/main" prst="roundRect">
            <a:avLst>
              <a:gd name="adj" fmla="val 6780"/>
            </a:avLst>
          </a:prstGeom>
          <a:solidFill xmlns:a="http://schemas.openxmlformats.org/drawingml/2006/main">
            <a:srgbClr val="FFF1D2"/>
          </a:solidFill>
          <a:ln xmlns:a="http://schemas.openxmlformats.org/drawingml/2006/main" w="9525">
            <a:solidFill>
              <a:srgbClr val="9A6700"/>
            </a:solidFill>
            <a:prstDash val="solid"/>
          </a:ln>
        </p:spPr>
      </p:sp>
      <p:sp>
        <p:nvSpPr>
          <p:cNvPr id="16" name="pilot-card-accent">
            <a:extLst xmlns:a="http://schemas.openxmlformats.org/drawingml/2006/main">
              <a:ext uri="{FF2B5EF4-FFF2-40B4-BE49-F238E27FC236}">
                <a16:creationId xmlns:a16="http://schemas.microsoft.com/office/drawing/2014/main" id="{C15800FC-D8F0-4400-8742-D80EEF5FC78E}"/>
              </a:ext>
            </a:extLst>
          </p:cNvPr>
          <p:cNvSpPr>
            <a:spLocks xmlns:a="http://schemas.openxmlformats.org/drawingml/2006/main" noGrp="1"/>
          </p:cNvSpPr>
          <p:nvPr/>
        </p:nvSpPr>
        <p:spPr>
          <a:xfrm xmlns:a="http://schemas.openxmlformats.org/drawingml/2006/main">
            <a:off x="857250" y="4400550"/>
            <a:ext cx="4933950" cy="76200"/>
          </a:xfrm>
          <a:prstGeom xmlns:a="http://schemas.openxmlformats.org/drawingml/2006/main" prst="rect">
            <a:avLst/>
          </a:prstGeom>
          <a:solidFill xmlns:a="http://schemas.openxmlformats.org/drawingml/2006/main">
            <a:srgbClr val="9A6700"/>
          </a:solidFill>
          <a:ln xmlns:a="http://schemas.openxmlformats.org/drawingml/2006/main" w="0">
            <a:solidFill>
              <a:srgbClr val="9A6700"/>
            </a:solidFill>
            <a:prstDash val="solid"/>
          </a:ln>
        </p:spPr>
      </p:sp>
      <p:sp>
        <p:nvSpPr>
          <p:cNvPr id="17" name="pilot-card-title">
            <a:extLst xmlns:a="http://schemas.openxmlformats.org/drawingml/2006/main">
              <a:ext uri="{FF2B5EF4-FFF2-40B4-BE49-F238E27FC236}">
                <a16:creationId xmlns:a16="http://schemas.microsoft.com/office/drawing/2014/main" id="{DF1F7490-388A-48DF-8C0A-A0ADD5DAD3BC}"/>
              </a:ext>
            </a:extLst>
          </p:cNvPr>
          <p:cNvSpPr>
            <a:spLocks xmlns:a="http://schemas.openxmlformats.org/drawingml/2006/main" noGrp="1"/>
          </p:cNvSpPr>
          <p:nvPr/>
        </p:nvSpPr>
        <p:spPr>
          <a:xfrm xmlns:a="http://schemas.openxmlformats.org/drawingml/2006/main">
            <a:off x="1028700" y="459105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6700"/>
                </a:solidFill>
              </a:defRPr>
            </a:pPr>
            <a:r>
              <a:rPr sz="1575" b="1">
                <a:solidFill>
                  <a:srgbClr val="9A6700"/>
                </a:solidFill>
              </a:rPr>
              <a:t>3. Evidence Card</a:t>
            </a:r>
          </a:p>
        </p:txBody>
      </p:sp>
      <p:sp>
        <p:nvSpPr>
          <p:cNvPr id="18" name="pilot-card-body">
            <a:extLst xmlns:a="http://schemas.openxmlformats.org/drawingml/2006/main">
              <a:ext uri="{FF2B5EF4-FFF2-40B4-BE49-F238E27FC236}">
                <a16:creationId xmlns:a16="http://schemas.microsoft.com/office/drawing/2014/main" id="{F373B6F5-CFD0-4DB0-AF2D-C169162FC988}"/>
              </a:ext>
            </a:extLst>
          </p:cNvPr>
          <p:cNvSpPr>
            <a:spLocks xmlns:a="http://schemas.openxmlformats.org/drawingml/2006/main" noGrp="1"/>
          </p:cNvSpPr>
          <p:nvPr/>
        </p:nvSpPr>
        <p:spPr>
          <a:xfrm xmlns:a="http://schemas.openxmlformats.org/drawingml/2006/main">
            <a:off x="1028700" y="4953000"/>
            <a:ext cx="4591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A compact review object that a human owner can inspect and route.</a:t>
            </a:r>
          </a:p>
        </p:txBody>
      </p:sp>
      <p:sp>
        <p:nvSpPr>
          <p:cNvPr id="19" name="pilot-readout-card">
            <a:extLst xmlns:a="http://schemas.openxmlformats.org/drawingml/2006/main">
              <a:ext uri="{FF2B5EF4-FFF2-40B4-BE49-F238E27FC236}">
                <a16:creationId xmlns:a16="http://schemas.microsoft.com/office/drawing/2014/main" id="{1FCF7773-8AB7-46B6-A1BB-2457D198CA6C}"/>
              </a:ext>
            </a:extLst>
          </p:cNvPr>
          <p:cNvSpPr>
            <a:spLocks xmlns:a="http://schemas.openxmlformats.org/drawingml/2006/main" noGrp="1"/>
          </p:cNvSpPr>
          <p:nvPr/>
        </p:nvSpPr>
        <p:spPr>
          <a:xfrm xmlns:a="http://schemas.openxmlformats.org/drawingml/2006/main">
            <a:off x="6400800" y="4400550"/>
            <a:ext cx="4933950" cy="1123950"/>
          </a:xfrm>
          <a:prstGeom xmlns:a="http://schemas.openxmlformats.org/drawingml/2006/main" prst="roundRect">
            <a:avLst>
              <a:gd name="adj" fmla="val 6780"/>
            </a:avLst>
          </a:prstGeom>
          <a:solidFill xmlns:a="http://schemas.openxmlformats.org/drawingml/2006/main">
            <a:srgbClr val="FFF1D2"/>
          </a:solidFill>
          <a:ln xmlns:a="http://schemas.openxmlformats.org/drawingml/2006/main" w="9525">
            <a:solidFill>
              <a:srgbClr val="9A6700"/>
            </a:solidFill>
            <a:prstDash val="solid"/>
          </a:ln>
        </p:spPr>
      </p:sp>
      <p:sp>
        <p:nvSpPr>
          <p:cNvPr id="20" name="pilot-readout-accent">
            <a:extLst xmlns:a="http://schemas.openxmlformats.org/drawingml/2006/main">
              <a:ext uri="{FF2B5EF4-FFF2-40B4-BE49-F238E27FC236}">
                <a16:creationId xmlns:a16="http://schemas.microsoft.com/office/drawing/2014/main" id="{1AFD2471-C3B3-4359-9399-E04B26D69E52}"/>
              </a:ext>
            </a:extLst>
          </p:cNvPr>
          <p:cNvSpPr>
            <a:spLocks xmlns:a="http://schemas.openxmlformats.org/drawingml/2006/main" noGrp="1"/>
          </p:cNvSpPr>
          <p:nvPr/>
        </p:nvSpPr>
        <p:spPr>
          <a:xfrm xmlns:a="http://schemas.openxmlformats.org/drawingml/2006/main">
            <a:off x="6400800" y="4400550"/>
            <a:ext cx="4933950" cy="76200"/>
          </a:xfrm>
          <a:prstGeom xmlns:a="http://schemas.openxmlformats.org/drawingml/2006/main" prst="rect">
            <a:avLst/>
          </a:prstGeom>
          <a:solidFill xmlns:a="http://schemas.openxmlformats.org/drawingml/2006/main">
            <a:srgbClr val="9A6700"/>
          </a:solidFill>
          <a:ln xmlns:a="http://schemas.openxmlformats.org/drawingml/2006/main" w="0">
            <a:solidFill>
              <a:srgbClr val="9A6700"/>
            </a:solidFill>
            <a:prstDash val="solid"/>
          </a:ln>
        </p:spPr>
      </p:sp>
      <p:sp>
        <p:nvSpPr>
          <p:cNvPr id="21" name="pilot-readout-title">
            <a:extLst xmlns:a="http://schemas.openxmlformats.org/drawingml/2006/main">
              <a:ext uri="{FF2B5EF4-FFF2-40B4-BE49-F238E27FC236}">
                <a16:creationId xmlns:a16="http://schemas.microsoft.com/office/drawing/2014/main" id="{F2F6E6E8-7E65-4116-BA00-BC5629B60F9A}"/>
              </a:ext>
            </a:extLst>
          </p:cNvPr>
          <p:cNvSpPr>
            <a:spLocks xmlns:a="http://schemas.openxmlformats.org/drawingml/2006/main" noGrp="1"/>
          </p:cNvSpPr>
          <p:nvPr/>
        </p:nvSpPr>
        <p:spPr>
          <a:xfrm xmlns:a="http://schemas.openxmlformats.org/drawingml/2006/main">
            <a:off x="6572250" y="459105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6700"/>
                </a:solidFill>
              </a:defRPr>
            </a:pPr>
            <a:r>
              <a:rPr sz="1575" b="1">
                <a:solidFill>
                  <a:srgbClr val="9A6700"/>
                </a:solidFill>
              </a:rPr>
              <a:t>4. Readout</a:t>
            </a:r>
          </a:p>
        </p:txBody>
      </p:sp>
      <p:sp>
        <p:nvSpPr>
          <p:cNvPr id="22" name="pilot-readout-body">
            <a:extLst xmlns:a="http://schemas.openxmlformats.org/drawingml/2006/main">
              <a:ext uri="{FF2B5EF4-FFF2-40B4-BE49-F238E27FC236}">
                <a16:creationId xmlns:a16="http://schemas.microsoft.com/office/drawing/2014/main" id="{B853F59E-70F3-4304-BECC-B3BB92D1E8D5}"/>
              </a:ext>
            </a:extLst>
          </p:cNvPr>
          <p:cNvSpPr>
            <a:spLocks xmlns:a="http://schemas.openxmlformats.org/drawingml/2006/main" noGrp="1"/>
          </p:cNvSpPr>
          <p:nvPr/>
        </p:nvSpPr>
        <p:spPr>
          <a:xfrm xmlns:a="http://schemas.openxmlformats.org/drawingml/2006/main">
            <a:off x="6572250" y="4953000"/>
            <a:ext cx="4591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What is ready to discuss, what is missing, who owns the next decision, and what should wait.</a:t>
            </a:r>
          </a:p>
        </p:txBody>
      </p:sp>
      <p:sp>
        <p:nvSpPr>
          <p:cNvPr id="23" name="boundary-footer">
            <a:extLst xmlns:a="http://schemas.openxmlformats.org/drawingml/2006/main">
              <a:ext uri="{FF2B5EF4-FFF2-40B4-BE49-F238E27FC236}">
                <a16:creationId xmlns:a16="http://schemas.microsoft.com/office/drawing/2014/main" id="{20C28F27-C651-4C0A-822F-682FEC4A56F5}"/>
              </a:ext>
            </a:extLst>
          </p:cNvPr>
          <p:cNvSpPr>
            <a:spLocks xmlns:a="http://schemas.openxmlformats.org/drawingml/2006/main" noGrp="1"/>
          </p:cNvSpPr>
          <p:nvPr/>
        </p:nvSpPr>
        <p:spPr>
          <a:xfrm xmlns:a="http://schemas.openxmlformats.org/drawingml/2006/main">
            <a:off x="685800" y="6191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2716B"/>
                </a:solidFill>
              </a:defRPr>
            </a:pPr>
            <a:r>
              <a:rPr sz="825">
                <a:solidFill>
                  <a:srgbClr val="62716B"/>
                </a:solidFill>
              </a:rPr>
              <a:t>Named companies are public examples only. They do not imply a VULCA customer, partner, endorsement, authorization source, or finding.</a:t>
            </a:r>
          </a:p>
        </p:txBody>
      </p:sp>
    </p:spTree>
    <p:extLst>
      <p:ext uri="{BB962C8B-B14F-4D97-AF65-F5344CB8AC3E}">
        <p14:creationId xmlns:p14="http://schemas.microsoft.com/office/powerpoint/2010/main" val="1168001970"/>
      </p:ext>
    </p:extLst>
  </p:cSld>
</p:sld>
</file>

<file path=ppt/slides/slide7.xml><?xml version="1.0" encoding="utf-8"?>
<p:sld xmlns:p="http://schemas.openxmlformats.org/presentationml/2006/main">
  <p:cSld>
    <p:bg>
      <p:bgPr>
        <a:solidFill xmlns:a="http://schemas.openxmlformats.org/drawingml/2006/main">
          <a:srgbClr val="EDF4F0"/>
        </a:solidFill>
      </p:bgPr>
    </p:bg>
    <p:spTree>
      <p:nvGrpSpPr>
        <p:cNvPr id="1" name=""/>
        <p:cNvGrpSpPr/>
        <p:nvPr/>
      </p:nvGrpSpPr>
      <p:grpSpPr>
        <a:xfrm xmlns:a="http://schemas.openxmlformats.org/drawingml/2006/main"/>
      </p:grpSpPr>
      <p:sp>
        <p:nvSpPr>
          <p:cNvPr id="1" name="paper">
            <a:extLst xmlns:a="http://schemas.openxmlformats.org/drawingml/2006/main">
              <a:ext uri="{FF2B5EF4-FFF2-40B4-BE49-F238E27FC236}">
                <a16:creationId xmlns:a16="http://schemas.microsoft.com/office/drawing/2014/main" id="{2D592003-173C-46C7-B3F1-1588CE1DECB2}"/>
              </a:ext>
            </a:extLst>
          </p:cNvPr>
          <p:cNvSpPr>
            <a:spLocks xmlns:a="http://schemas.openxmlformats.org/drawingml/2006/main" noGrp="1"/>
          </p:cNvSpPr>
          <p:nvPr/>
        </p:nvSpPr>
        <p:spPr>
          <a:xfrm xmlns:a="http://schemas.openxmlformats.org/drawingml/2006/main">
            <a:off x="342900" y="285750"/>
            <a:ext cx="11506200" cy="6286500"/>
          </a:xfrm>
          <a:prstGeom xmlns:a="http://schemas.openxmlformats.org/drawingml/2006/main" prst="roundRect">
            <a:avLst>
              <a:gd name="adj" fmla="val 1212"/>
            </a:avLst>
          </a:prstGeom>
          <a:solidFill xmlns:a="http://schemas.openxmlformats.org/drawingml/2006/main">
            <a:srgbClr val="FBFCFA"/>
          </a:solidFill>
          <a:ln xmlns:a="http://schemas.openxmlformats.org/drawingml/2006/main" w="9525">
            <a:solidFill>
              <a:srgbClr val="FBFCFA"/>
            </a:solidFill>
            <a:prstDash val="solid"/>
          </a:ln>
        </p:spPr>
      </p:sp>
      <p:sp>
        <p:nvSpPr>
          <p:cNvPr id="2" name="top-rule">
            <a:extLst xmlns:a="http://schemas.openxmlformats.org/drawingml/2006/main">
              <a:ext uri="{FF2B5EF4-FFF2-40B4-BE49-F238E27FC236}">
                <a16:creationId xmlns:a16="http://schemas.microsoft.com/office/drawing/2014/main" id="{4E155E40-4159-498D-A75E-3656CCAFDA3C}"/>
              </a:ext>
            </a:extLst>
          </p:cNvPr>
          <p:cNvSpPr>
            <a:spLocks xmlns:a="http://schemas.openxmlformats.org/drawingml/2006/main" noGrp="1"/>
          </p:cNvSpPr>
          <p:nvPr/>
        </p:nvSpPr>
        <p:spPr>
          <a:xfrm xmlns:a="http://schemas.openxmlformats.org/drawingml/2006/main">
            <a:off x="342900" y="571500"/>
            <a:ext cx="11506200" cy="9525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3" name="kicker">
            <a:extLst xmlns:a="http://schemas.openxmlformats.org/drawingml/2006/main">
              <a:ext uri="{FF2B5EF4-FFF2-40B4-BE49-F238E27FC236}">
                <a16:creationId xmlns:a16="http://schemas.microsoft.com/office/drawing/2014/main" id="{30C0AE9E-31F9-49F7-88AA-55BB5CB833D6}"/>
              </a:ext>
            </a:extLst>
          </p:cNvPr>
          <p:cNvSpPr>
            <a:spLocks xmlns:a="http://schemas.openxmlformats.org/drawingml/2006/main" noGrp="1"/>
          </p:cNvSpPr>
          <p:nvPr/>
        </p:nvSpPr>
        <p:spPr>
          <a:xfrm xmlns:a="http://schemas.openxmlformats.org/drawingml/2006/main">
            <a:off x="685800" y="914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2716B"/>
                </a:solidFill>
              </a:defRPr>
            </a:pPr>
            <a:r>
              <a:rPr sz="1200">
                <a:solidFill>
                  <a:srgbClr val="62716B"/>
                </a:solidFill>
              </a:rPr>
              <a:t>VULCA SOLUTION PACK V1</a:t>
            </a:r>
          </a:p>
        </p:txBody>
      </p:sp>
      <p:sp>
        <p:nvSpPr>
          <p:cNvPr id="4" name="page-marker">
            <a:extLst xmlns:a="http://schemas.openxmlformats.org/drawingml/2006/main">
              <a:ext uri="{FF2B5EF4-FFF2-40B4-BE49-F238E27FC236}">
                <a16:creationId xmlns:a16="http://schemas.microsoft.com/office/drawing/2014/main" id="{0F7C7DBF-2C04-4B43-ADEA-46A69403F0D3}"/>
              </a:ext>
            </a:extLst>
          </p:cNvPr>
          <p:cNvSpPr>
            <a:spLocks xmlns:a="http://schemas.openxmlformats.org/drawingml/2006/main" noGrp="1"/>
          </p:cNvSpPr>
          <p:nvPr/>
        </p:nvSpPr>
        <p:spPr>
          <a:xfrm xmlns:a="http://schemas.openxmlformats.org/drawingml/2006/main">
            <a:off x="809625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a:solidFill>
                  <a:srgbClr val="62716B"/>
                </a:solidFill>
              </a:defRPr>
            </a:pPr>
            <a:r>
              <a:rPr sz="1200">
                <a:solidFill>
                  <a:srgbClr val="62716B"/>
                </a:solidFill>
              </a:rPr>
              <a:t>Public example sample / Page 7</a:t>
            </a:r>
          </a:p>
        </p:txBody>
      </p:sp>
      <p:sp>
        <p:nvSpPr>
          <p:cNvPr id="5" name="title">
            <a:extLst xmlns:a="http://schemas.openxmlformats.org/drawingml/2006/main">
              <a:ext uri="{FF2B5EF4-FFF2-40B4-BE49-F238E27FC236}">
                <a16:creationId xmlns:a16="http://schemas.microsoft.com/office/drawing/2014/main" id="{4480F86F-083D-4910-9131-C37C42D837C7}"/>
              </a:ext>
            </a:extLst>
          </p:cNvPr>
          <p:cNvSpPr>
            <a:spLocks xmlns:a="http://schemas.openxmlformats.org/drawingml/2006/main" noGrp="1"/>
          </p:cNvSpPr>
          <p:nvPr/>
        </p:nvSpPr>
        <p:spPr>
          <a:xfrm xmlns:a="http://schemas.openxmlformats.org/drawingml/2006/main">
            <a:off x="685800" y="12573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6211D"/>
                </a:solidFill>
              </a:defRPr>
            </a:pPr>
            <a:r>
              <a:rPr sz="3000" b="1">
                <a:solidFill>
                  <a:srgbClr val="16211D"/>
                </a:solidFill>
              </a:rPr>
              <a:t>Review Ask And Boundaries</a:t>
            </a:r>
          </a:p>
        </p:txBody>
      </p:sp>
      <p:sp>
        <p:nvSpPr>
          <p:cNvPr id="6" name="ask-card">
            <a:extLst xmlns:a="http://schemas.openxmlformats.org/drawingml/2006/main">
              <a:ext uri="{FF2B5EF4-FFF2-40B4-BE49-F238E27FC236}">
                <a16:creationId xmlns:a16="http://schemas.microsoft.com/office/drawing/2014/main" id="{86DBBA47-CDB0-4E11-BB1A-082E4EAF1A83}"/>
              </a:ext>
            </a:extLst>
          </p:cNvPr>
          <p:cNvSpPr>
            <a:spLocks xmlns:a="http://schemas.openxmlformats.org/drawingml/2006/main" noGrp="1"/>
          </p:cNvSpPr>
          <p:nvPr/>
        </p:nvSpPr>
        <p:spPr>
          <a:xfrm xmlns:a="http://schemas.openxmlformats.org/drawingml/2006/main">
            <a:off x="857250" y="2571750"/>
            <a:ext cx="4762500" cy="1428750"/>
          </a:xfrm>
          <a:prstGeom xmlns:a="http://schemas.openxmlformats.org/drawingml/2006/main" prst="roundRect">
            <a:avLst>
              <a:gd name="adj" fmla="val 5333"/>
            </a:avLst>
          </a:prstGeom>
          <a:solidFill xmlns:a="http://schemas.openxmlformats.org/drawingml/2006/main">
            <a:srgbClr val="DFF1EC"/>
          </a:solidFill>
          <a:ln xmlns:a="http://schemas.openxmlformats.org/drawingml/2006/main" w="9525">
            <a:solidFill>
              <a:srgbClr val="007F73"/>
            </a:solidFill>
            <a:prstDash val="solid"/>
          </a:ln>
        </p:spPr>
      </p:sp>
      <p:sp>
        <p:nvSpPr>
          <p:cNvPr id="7" name="ask-accent">
            <a:extLst xmlns:a="http://schemas.openxmlformats.org/drawingml/2006/main">
              <a:ext uri="{FF2B5EF4-FFF2-40B4-BE49-F238E27FC236}">
                <a16:creationId xmlns:a16="http://schemas.microsoft.com/office/drawing/2014/main" id="{D4C6B775-B0D6-41D5-A1D3-17911B102777}"/>
              </a:ext>
            </a:extLst>
          </p:cNvPr>
          <p:cNvSpPr>
            <a:spLocks xmlns:a="http://schemas.openxmlformats.org/drawingml/2006/main" noGrp="1"/>
          </p:cNvSpPr>
          <p:nvPr/>
        </p:nvSpPr>
        <p:spPr>
          <a:xfrm xmlns:a="http://schemas.openxmlformats.org/drawingml/2006/main">
            <a:off x="857250" y="2571750"/>
            <a:ext cx="4762500" cy="762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8" name="ask-title">
            <a:extLst xmlns:a="http://schemas.openxmlformats.org/drawingml/2006/main">
              <a:ext uri="{FF2B5EF4-FFF2-40B4-BE49-F238E27FC236}">
                <a16:creationId xmlns:a16="http://schemas.microsoft.com/office/drawing/2014/main" id="{B5CA2409-B536-4F46-98D4-038A76175AA4}"/>
              </a:ext>
            </a:extLst>
          </p:cNvPr>
          <p:cNvSpPr>
            <a:spLocks xmlns:a="http://schemas.openxmlformats.org/drawingml/2006/main" noGrp="1"/>
          </p:cNvSpPr>
          <p:nvPr/>
        </p:nvSpPr>
        <p:spPr>
          <a:xfrm xmlns:a="http://schemas.openxmlformats.org/drawingml/2006/main">
            <a:off x="1028700" y="2762250"/>
            <a:ext cx="441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07F73"/>
                </a:solidFill>
              </a:defRPr>
            </a:pPr>
            <a:r>
              <a:rPr sz="1575" b="1">
                <a:solidFill>
                  <a:srgbClr val="007F73"/>
                </a:solidFill>
              </a:rPr>
              <a:t>Useful first response</a:t>
            </a:r>
          </a:p>
        </p:txBody>
      </p:sp>
      <p:sp>
        <p:nvSpPr>
          <p:cNvPr id="9" name="ask-body">
            <a:extLst xmlns:a="http://schemas.openxmlformats.org/drawingml/2006/main">
              <a:ext uri="{FF2B5EF4-FFF2-40B4-BE49-F238E27FC236}">
                <a16:creationId xmlns:a16="http://schemas.microsoft.com/office/drawing/2014/main" id="{A65EAE85-C13A-4665-845D-92233EBC6EE6}"/>
              </a:ext>
            </a:extLst>
          </p:cNvPr>
          <p:cNvSpPr>
            <a:spLocks xmlns:a="http://schemas.openxmlformats.org/drawingml/2006/main" noGrp="1"/>
          </p:cNvSpPr>
          <p:nvPr/>
        </p:nvSpPr>
        <p:spPr>
          <a:xfrm xmlns:a="http://schemas.openxmlformats.org/drawingml/2006/main">
            <a:off x="1028700" y="3124200"/>
            <a:ext cx="4419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Which visual workflow should be turned into a source-backed review packet first: product-truth, AI publishability, or AI ad workflow handoff?</a:t>
            </a:r>
          </a:p>
        </p:txBody>
      </p:sp>
      <p:sp>
        <p:nvSpPr>
          <p:cNvPr id="10" name="what-we-show-card">
            <a:extLst xmlns:a="http://schemas.openxmlformats.org/drawingml/2006/main">
              <a:ext uri="{FF2B5EF4-FFF2-40B4-BE49-F238E27FC236}">
                <a16:creationId xmlns:a16="http://schemas.microsoft.com/office/drawing/2014/main" id="{564712AA-111A-487F-93E0-60F680E4C6CF}"/>
              </a:ext>
            </a:extLst>
          </p:cNvPr>
          <p:cNvSpPr>
            <a:spLocks xmlns:a="http://schemas.openxmlformats.org/drawingml/2006/main" noGrp="1"/>
          </p:cNvSpPr>
          <p:nvPr/>
        </p:nvSpPr>
        <p:spPr>
          <a:xfrm xmlns:a="http://schemas.openxmlformats.org/drawingml/2006/main">
            <a:off x="857250" y="4286250"/>
            <a:ext cx="4762500" cy="1428750"/>
          </a:xfrm>
          <a:prstGeom xmlns:a="http://schemas.openxmlformats.org/drawingml/2006/main" prst="roundRect">
            <a:avLst>
              <a:gd name="adj" fmla="val 5333"/>
            </a:avLst>
          </a:prstGeom>
          <a:solidFill xmlns:a="http://schemas.openxmlformats.org/drawingml/2006/main">
            <a:srgbClr val="DFF1EC"/>
          </a:solidFill>
          <a:ln xmlns:a="http://schemas.openxmlformats.org/drawingml/2006/main" w="9525">
            <a:solidFill>
              <a:srgbClr val="007F73"/>
            </a:solidFill>
            <a:prstDash val="solid"/>
          </a:ln>
        </p:spPr>
      </p:sp>
      <p:sp>
        <p:nvSpPr>
          <p:cNvPr id="11" name="what-we-show-accent">
            <a:extLst xmlns:a="http://schemas.openxmlformats.org/drawingml/2006/main">
              <a:ext uri="{FF2B5EF4-FFF2-40B4-BE49-F238E27FC236}">
                <a16:creationId xmlns:a16="http://schemas.microsoft.com/office/drawing/2014/main" id="{9CFB3D59-6C16-4CAA-AD86-FB4831A708C0}"/>
              </a:ext>
            </a:extLst>
          </p:cNvPr>
          <p:cNvSpPr>
            <a:spLocks xmlns:a="http://schemas.openxmlformats.org/drawingml/2006/main" noGrp="1"/>
          </p:cNvSpPr>
          <p:nvPr/>
        </p:nvSpPr>
        <p:spPr>
          <a:xfrm xmlns:a="http://schemas.openxmlformats.org/drawingml/2006/main">
            <a:off x="857250" y="4286250"/>
            <a:ext cx="4762500" cy="76200"/>
          </a:xfrm>
          <a:prstGeom xmlns:a="http://schemas.openxmlformats.org/drawingml/2006/main" prst="rect">
            <a:avLst/>
          </a:prstGeom>
          <a:solidFill xmlns:a="http://schemas.openxmlformats.org/drawingml/2006/main">
            <a:srgbClr val="007F73"/>
          </a:solidFill>
          <a:ln xmlns:a="http://schemas.openxmlformats.org/drawingml/2006/main" w="0">
            <a:solidFill>
              <a:srgbClr val="007F73"/>
            </a:solidFill>
            <a:prstDash val="solid"/>
          </a:ln>
        </p:spPr>
      </p:sp>
      <p:sp>
        <p:nvSpPr>
          <p:cNvPr id="12" name="what-we-show-title">
            <a:extLst xmlns:a="http://schemas.openxmlformats.org/drawingml/2006/main">
              <a:ext uri="{FF2B5EF4-FFF2-40B4-BE49-F238E27FC236}">
                <a16:creationId xmlns:a16="http://schemas.microsoft.com/office/drawing/2014/main" id="{CB7AD9AB-EE71-4E21-82F7-02AEDDDF2A07}"/>
              </a:ext>
            </a:extLst>
          </p:cNvPr>
          <p:cNvSpPr>
            <a:spLocks xmlns:a="http://schemas.openxmlformats.org/drawingml/2006/main" noGrp="1"/>
          </p:cNvSpPr>
          <p:nvPr/>
        </p:nvSpPr>
        <p:spPr>
          <a:xfrm xmlns:a="http://schemas.openxmlformats.org/drawingml/2006/main">
            <a:off x="1028700" y="4476750"/>
            <a:ext cx="441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07F73"/>
                </a:solidFill>
              </a:defRPr>
            </a:pPr>
            <a:r>
              <a:rPr sz="1575" b="1">
                <a:solidFill>
                  <a:srgbClr val="007F73"/>
                </a:solidFill>
              </a:rPr>
              <a:t>What the sample shows</a:t>
            </a:r>
          </a:p>
        </p:txBody>
      </p:sp>
      <p:sp>
        <p:nvSpPr>
          <p:cNvPr id="13" name="what-we-show-body">
            <a:extLst xmlns:a="http://schemas.openxmlformats.org/drawingml/2006/main">
              <a:ext uri="{FF2B5EF4-FFF2-40B4-BE49-F238E27FC236}">
                <a16:creationId xmlns:a16="http://schemas.microsoft.com/office/drawing/2014/main" id="{98D7AE8F-D8E2-4B53-ACE8-2AE4CEA043A4}"/>
              </a:ext>
            </a:extLst>
          </p:cNvPr>
          <p:cNvSpPr>
            <a:spLocks xmlns:a="http://schemas.openxmlformats.org/drawingml/2006/main" noGrp="1"/>
          </p:cNvSpPr>
          <p:nvPr/>
        </p:nvSpPr>
        <p:spPr>
          <a:xfrm xmlns:a="http://schemas.openxmlformats.org/drawingml/2006/main">
            <a:off x="1028700" y="4838700"/>
            <a:ext cx="4419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6211D"/>
                </a:solidFill>
              </a:defRPr>
            </a:pPr>
            <a:r>
              <a:rPr sz="1200">
                <a:solidFill>
                  <a:srgbClr val="16211D"/>
                </a:solidFill>
              </a:rPr>
              <a:t>A repeatable packet shape: source context, representation or generated-output field read, unresolved questions, owner route, and human review gate.</a:t>
            </a:r>
          </a:p>
        </p:txBody>
      </p:sp>
      <p:sp>
        <p:nvSpPr>
          <p:cNvPr id="14" name="not-claims-card">
            <a:extLst xmlns:a="http://schemas.openxmlformats.org/drawingml/2006/main">
              <a:ext uri="{FF2B5EF4-FFF2-40B4-BE49-F238E27FC236}">
                <a16:creationId xmlns:a16="http://schemas.microsoft.com/office/drawing/2014/main" id="{FE1700F5-678F-47A5-8BC7-26993895E7E8}"/>
              </a:ext>
            </a:extLst>
          </p:cNvPr>
          <p:cNvSpPr>
            <a:spLocks xmlns:a="http://schemas.openxmlformats.org/drawingml/2006/main" noGrp="1"/>
          </p:cNvSpPr>
          <p:nvPr/>
        </p:nvSpPr>
        <p:spPr>
          <a:xfrm xmlns:a="http://schemas.openxmlformats.org/drawingml/2006/main">
            <a:off x="6381750" y="2571750"/>
            <a:ext cx="4953000" cy="3143250"/>
          </a:xfrm>
          <a:prstGeom xmlns:a="http://schemas.openxmlformats.org/drawingml/2006/main" prst="roundRect">
            <a:avLst>
              <a:gd name="adj" fmla="val 2424"/>
            </a:avLst>
          </a:prstGeom>
          <a:solidFill xmlns:a="http://schemas.openxmlformats.org/drawingml/2006/main">
            <a:srgbClr val="F8E0DC"/>
          </a:solidFill>
          <a:ln xmlns:a="http://schemas.openxmlformats.org/drawingml/2006/main" w="9525">
            <a:solidFill>
              <a:srgbClr val="B63A31"/>
            </a:solidFill>
            <a:prstDash val="solid"/>
          </a:ln>
        </p:spPr>
      </p:sp>
      <p:sp>
        <p:nvSpPr>
          <p:cNvPr id="15" name="not-claims-accent">
            <a:extLst xmlns:a="http://schemas.openxmlformats.org/drawingml/2006/main">
              <a:ext uri="{FF2B5EF4-FFF2-40B4-BE49-F238E27FC236}">
                <a16:creationId xmlns:a16="http://schemas.microsoft.com/office/drawing/2014/main" id="{2A327CBB-BA10-4D98-B5EC-639685D5D780}"/>
              </a:ext>
            </a:extLst>
          </p:cNvPr>
          <p:cNvSpPr>
            <a:spLocks xmlns:a="http://schemas.openxmlformats.org/drawingml/2006/main" noGrp="1"/>
          </p:cNvSpPr>
          <p:nvPr/>
        </p:nvSpPr>
        <p:spPr>
          <a:xfrm xmlns:a="http://schemas.openxmlformats.org/drawingml/2006/main">
            <a:off x="6381750" y="2571750"/>
            <a:ext cx="4953000" cy="76200"/>
          </a:xfrm>
          <a:prstGeom xmlns:a="http://schemas.openxmlformats.org/drawingml/2006/main" prst="rect">
            <a:avLst/>
          </a:prstGeom>
          <a:solidFill xmlns:a="http://schemas.openxmlformats.org/drawingml/2006/main">
            <a:srgbClr val="B63A31"/>
          </a:solidFill>
          <a:ln xmlns:a="http://schemas.openxmlformats.org/drawingml/2006/main" w="0">
            <a:solidFill>
              <a:srgbClr val="B63A31"/>
            </a:solidFill>
            <a:prstDash val="solid"/>
          </a:ln>
        </p:spPr>
      </p:sp>
      <p:sp>
        <p:nvSpPr>
          <p:cNvPr id="16" name="not-claims-title">
            <a:extLst xmlns:a="http://schemas.openxmlformats.org/drawingml/2006/main">
              <a:ext uri="{FF2B5EF4-FFF2-40B4-BE49-F238E27FC236}">
                <a16:creationId xmlns:a16="http://schemas.microsoft.com/office/drawing/2014/main" id="{BF3B6FE1-59F0-4420-9E8C-40DF82EE35C8}"/>
              </a:ext>
            </a:extLst>
          </p:cNvPr>
          <p:cNvSpPr>
            <a:spLocks xmlns:a="http://schemas.openxmlformats.org/drawingml/2006/main" noGrp="1"/>
          </p:cNvSpPr>
          <p:nvPr/>
        </p:nvSpPr>
        <p:spPr>
          <a:xfrm xmlns:a="http://schemas.openxmlformats.org/drawingml/2006/main">
            <a:off x="6553200" y="2762250"/>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B63A31"/>
                </a:solidFill>
              </a:defRPr>
            </a:pPr>
            <a:r>
              <a:rPr sz="1575" b="1">
                <a:solidFill>
                  <a:srgbClr val="B63A31"/>
                </a:solidFill>
              </a:rPr>
              <a:t>Not claiming</a:t>
            </a:r>
          </a:p>
        </p:txBody>
      </p:sp>
      <p:sp>
        <p:nvSpPr>
          <p:cNvPr id="17" name="not-claims-body">
            <a:extLst xmlns:a="http://schemas.openxmlformats.org/drawingml/2006/main">
              <a:ext uri="{FF2B5EF4-FFF2-40B4-BE49-F238E27FC236}">
                <a16:creationId xmlns:a16="http://schemas.microsoft.com/office/drawing/2014/main" id="{B7A3E9EC-3FD7-4BBA-92A5-B0A7122F1D66}"/>
              </a:ext>
            </a:extLst>
          </p:cNvPr>
          <p:cNvSpPr>
            <a:spLocks xmlns:a="http://schemas.openxmlformats.org/drawingml/2006/main" noGrp="1"/>
          </p:cNvSpPr>
          <p:nvPr/>
        </p:nvSpPr>
        <p:spPr>
          <a:xfrm xmlns:a="http://schemas.openxmlformats.org/drawingml/2006/main">
            <a:off x="6553200" y="3124200"/>
            <a:ext cx="4610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16211D"/>
                </a:solidFill>
              </a:defRPr>
            </a:pPr>
            <a:r>
              <a:rPr sz="1275">
                <a:solidFill>
                  <a:srgbClr val="16211D"/>
                </a:solidFill>
              </a:rPr>
              <a:t>No legal advice, rights clearance, platform approval, model-safety certification, release-readiness certification, performance measurement, ROI, CPA, CTR, ROAS, benchmark superiority, customer relationship, partnership, endorsement, authorization, or audit finding.</a:t>
            </a:r>
          </a:p>
        </p:txBody>
      </p:sp>
      <p:sp>
        <p:nvSpPr>
          <p:cNvPr id="18" name="boundary-footer">
            <a:extLst xmlns:a="http://schemas.openxmlformats.org/drawingml/2006/main">
              <a:ext uri="{FF2B5EF4-FFF2-40B4-BE49-F238E27FC236}">
                <a16:creationId xmlns:a16="http://schemas.microsoft.com/office/drawing/2014/main" id="{A65F4F40-67ED-4C85-908D-D9FB2252F6F9}"/>
              </a:ext>
            </a:extLst>
          </p:cNvPr>
          <p:cNvSpPr>
            <a:spLocks xmlns:a="http://schemas.openxmlformats.org/drawingml/2006/main" noGrp="1"/>
          </p:cNvSpPr>
          <p:nvPr/>
        </p:nvSpPr>
        <p:spPr>
          <a:xfrm xmlns:a="http://schemas.openxmlformats.org/drawingml/2006/main">
            <a:off x="685800" y="6191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2716B"/>
                </a:solidFill>
              </a:defRPr>
            </a:pPr>
            <a:r>
              <a:rPr sz="825">
                <a:solidFill>
                  <a:srgbClr val="62716B"/>
                </a:solidFill>
              </a:rPr>
              <a:t>Named companies are public examples only. They do not imply a VULCA customer, partner, endorsement, authorization source, or finding.</a:t>
            </a:r>
          </a:p>
        </p:txBody>
      </p:sp>
    </p:spTree>
    <p:extLst>
      <p:ext uri="{BB962C8B-B14F-4D97-AF65-F5344CB8AC3E}">
        <p14:creationId xmlns:p14="http://schemas.microsoft.com/office/powerpoint/2010/main" val="130559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2026-06-21T22:44:44.3880000Z</dcterms:created>
  <dcterms:modified xsi:type="dcterms:W3CDTF">2026-06-21T22:44:44.3880000Z</dcterms:modified>
</coreProperties>
</file>